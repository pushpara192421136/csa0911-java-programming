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6" r:id="rId4"/>
    <p:sldId id="288" r:id="rId5"/>
    <p:sldId id="259" r:id="rId6"/>
    <p:sldId id="274" r:id="rId7"/>
    <p:sldId id="290" r:id="rId8"/>
    <p:sldId id="278" r:id="rId9"/>
    <p:sldId id="283" r:id="rId10"/>
    <p:sldId id="279" r:id="rId11"/>
    <p:sldId id="284" r:id="rId12"/>
    <p:sldId id="280" r:id="rId13"/>
    <p:sldId id="285" r:id="rId14"/>
    <p:sldId id="282" r:id="rId15"/>
    <p:sldId id="286" r:id="rId16"/>
    <p:sldId id="281" r:id="rId17"/>
    <p:sldId id="287" r:id="rId18"/>
    <p:sldId id="289" r:id="rId19"/>
    <p:sldId id="265" r:id="rId20"/>
    <p:sldId id="266" r:id="rId21"/>
    <p:sldId id="267" r:id="rId22"/>
    <p:sldId id="26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snapToObjects="1">
      <p:cViewPr varScale="1">
        <p:scale>
          <a:sx n="74" d="100"/>
          <a:sy n="74" d="100"/>
        </p:scale>
        <p:origin x="936" y="4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7EA814-C34B-41DB-8E93-8AD7452BDF27}" type="datetimeFigureOut">
              <a:rPr lang="en-IN" smtClean="0"/>
              <a:t>05-09-2026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6919D-5DDC-417A-8C78-688F885D90D7}" type="slidenum">
              <a:rPr lang="en-IN" smtClean="0"/>
              <a:t>‹#›</a:t>
            </a:fld>
            <a:endParaRPr lang="en-IN"/>
          </a:p>
        </p:txBody>
      </p:sp>
    </p:spTree>
    <p:extLst>
      <p:ext uri="{BB962C8B-B14F-4D97-AF65-F5344CB8AC3E}">
        <p14:creationId xmlns:p14="http://schemas.microsoft.com/office/powerpoint/2010/main" val="3700588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F6919D-5DDC-417A-8C78-688F885D90D7}" type="slidenum">
              <a:rPr lang="en-IN" smtClean="0"/>
              <a:t>1</a:t>
            </a:fld>
            <a:endParaRPr lang="en-IN" dirty="0"/>
          </a:p>
        </p:txBody>
      </p:sp>
    </p:spTree>
    <p:extLst>
      <p:ext uri="{BB962C8B-B14F-4D97-AF65-F5344CB8AC3E}">
        <p14:creationId xmlns:p14="http://schemas.microsoft.com/office/powerpoint/2010/main" val="4110574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F6919D-5DDC-417A-8C78-688F885D90D7}" type="slidenum">
              <a:rPr lang="en-IN" smtClean="0"/>
              <a:t>6</a:t>
            </a:fld>
            <a:endParaRPr lang="en-IN"/>
          </a:p>
        </p:txBody>
      </p:sp>
    </p:spTree>
    <p:extLst>
      <p:ext uri="{BB962C8B-B14F-4D97-AF65-F5344CB8AC3E}">
        <p14:creationId xmlns:p14="http://schemas.microsoft.com/office/powerpoint/2010/main" val="2172638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99650E1-1BB3-454E-AD3C-3A1138BF1CE0}" type="datetime1">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5D387-DD3B-4630-A8FD-549B9E0BA79E}" type="datetime1">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1E784C-179F-4B92-BE7F-6CD1BB0BADA0}" type="datetime1">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11AF3C-7AD7-4923-BC7F-8968C189CBF2}" type="datetime1">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BC094F-36E2-4AB9-8589-4A1FCEB9390A}" type="datetime1">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58F0DDD-BDD8-462C-999A-8CD73A812487}" type="datetime1">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D48B25-55A0-4AC9-A6D5-06D43E7B4F6E}" type="datetime1">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29E58-71F1-4840-B03D-2E89F7286641}" type="datetime1">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8587E8-D512-4EA1-92F0-82A5E7A3E60B}" type="datetime1">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FE13CC-56A3-4255-BF21-E003BF0F242C}" type="datetime1">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2E12C5-18FD-4C3B-86D9-A9E03413CF5F}" type="datetime1">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3517FA-9755-45CE-B8B5-854E824C7108}" type="datetime1">
              <a:rPr lang="en-US" smtClean="0"/>
              <a:t>9/5/2026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E5263D-1CF1-2345-D814-B33C7C2967B2}"/>
              </a:ext>
            </a:extLst>
          </p:cNvPr>
          <p:cNvPicPr>
            <a:picLocks noChangeAspect="1"/>
          </p:cNvPicPr>
          <p:nvPr/>
        </p:nvPicPr>
        <p:blipFill>
          <a:blip r:embed="rId3"/>
          <a:stretch>
            <a:fillRect/>
          </a:stretch>
        </p:blipFill>
        <p:spPr>
          <a:xfrm>
            <a:off x="665192" y="35098"/>
            <a:ext cx="11024616" cy="1710575"/>
          </a:xfrm>
          <a:prstGeom prst="rect">
            <a:avLst/>
          </a:prstGeom>
        </p:spPr>
      </p:pic>
      <p:sp>
        <p:nvSpPr>
          <p:cNvPr id="2" name="Title 1"/>
          <p:cNvSpPr>
            <a:spLocks noGrp="1"/>
          </p:cNvSpPr>
          <p:nvPr>
            <p:ph type="ctrTitle"/>
          </p:nvPr>
        </p:nvSpPr>
        <p:spPr>
          <a:xfrm>
            <a:off x="616424" y="1511631"/>
            <a:ext cx="11073384" cy="1804987"/>
          </a:xfrm>
        </p:spPr>
        <p:txBody>
          <a:bodyPr>
            <a:normAutofit/>
          </a:bodyPr>
          <a:lstStyle/>
          <a:p>
            <a:pPr marL="0" indent="0">
              <a:lnSpc>
                <a:spcPct val="120000"/>
              </a:lnSpc>
            </a:pPr>
            <a:r>
              <a:rPr lang="en-US" sz="3600" b="1" dirty="0">
                <a:latin typeface="Times New Roman" panose="02020603050405020304" pitchFamily="18" charset="0"/>
                <a:ea typeface="Calibri" pitchFamily="34" charset="-122"/>
                <a:cs typeface="Times New Roman" panose="02020603050405020304" pitchFamily="18" charset="0"/>
              </a:rPr>
              <a:t>An Automated Java System for Adaptive Quiz Generation and Student Weak-Area Identification</a:t>
            </a:r>
            <a:endParaRPr sz="36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324032" y="3427552"/>
            <a:ext cx="7658168" cy="1278741"/>
          </a:xfrm>
        </p:spPr>
        <p:txBody>
          <a:bodyPr>
            <a:noAutofit/>
          </a:bodyPr>
          <a:lstStyle/>
          <a:p>
            <a:r>
              <a:rPr sz="2800" b="1" dirty="0">
                <a:latin typeface="Times New Roman" panose="02020603050405020304" pitchFamily="18" charset="0"/>
                <a:cs typeface="Times New Roman" panose="02020603050405020304" pitchFamily="18" charset="0"/>
              </a:rPr>
              <a:t>Capstone Project</a:t>
            </a:r>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CSA0911-Programming in Java</a:t>
            </a:r>
          </a:p>
          <a:p>
            <a:endParaRPr sz="2800" dirty="0">
              <a:latin typeface="Times New Roman" panose="02020603050405020304" pitchFamily="18" charset="0"/>
              <a:cs typeface="Times New Roman" panose="02020603050405020304" pitchFamily="18" charset="0"/>
            </a:endParaRPr>
          </a:p>
          <a:p>
            <a:br>
              <a:rPr lang="en-IN" sz="2800" dirty="0"/>
            </a:br>
            <a:br>
              <a:rPr lang="en-IN" sz="2800" dirty="0"/>
            </a:br>
            <a:endParaRPr sz="2800" dirty="0"/>
          </a:p>
        </p:txBody>
      </p:sp>
      <p:sp>
        <p:nvSpPr>
          <p:cNvPr id="4" name="TextBox 3">
            <a:extLst>
              <a:ext uri="{FF2B5EF4-FFF2-40B4-BE49-F238E27FC236}">
                <a16:creationId xmlns:a16="http://schemas.microsoft.com/office/drawing/2014/main" id="{F91B8EF7-C43A-5D6D-8679-D4A05599FEE8}"/>
              </a:ext>
            </a:extLst>
          </p:cNvPr>
          <p:cNvSpPr txBox="1"/>
          <p:nvPr/>
        </p:nvSpPr>
        <p:spPr>
          <a:xfrm>
            <a:off x="540501" y="4966548"/>
            <a:ext cx="3052640" cy="230832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Done By:</a:t>
            </a:r>
          </a:p>
          <a:p>
            <a:r>
              <a:rPr lang="en-IN" dirty="0">
                <a:latin typeface="Times New Roman" panose="02020603050405020304" pitchFamily="18" charset="0"/>
                <a:cs typeface="Times New Roman" panose="02020603050405020304" pitchFamily="18" charset="0"/>
              </a:rPr>
              <a:t>Anish Ebenezer (192511337)</a:t>
            </a:r>
          </a:p>
          <a:p>
            <a:r>
              <a:rPr lang="en-IN" dirty="0">
                <a:latin typeface="Times New Roman" panose="02020603050405020304" pitchFamily="18" charset="0"/>
                <a:cs typeface="Times New Roman" panose="02020603050405020304" pitchFamily="18" charset="0"/>
              </a:rPr>
              <a:t>N. </a:t>
            </a:r>
            <a:r>
              <a:rPr lang="en-IN" dirty="0" err="1">
                <a:latin typeface="Times New Roman" panose="02020603050405020304" pitchFamily="18" charset="0"/>
                <a:cs typeface="Times New Roman" panose="02020603050405020304" pitchFamily="18" charset="0"/>
              </a:rPr>
              <a:t>Nesarajan</a:t>
            </a:r>
            <a:r>
              <a:rPr lang="en-IN" dirty="0">
                <a:latin typeface="Times New Roman" panose="02020603050405020304" pitchFamily="18" charset="0"/>
                <a:cs typeface="Times New Roman" panose="02020603050405020304" pitchFamily="18" charset="0"/>
              </a:rPr>
              <a:t>(192511386)</a:t>
            </a:r>
          </a:p>
          <a:p>
            <a:r>
              <a:rPr lang="en-IN" dirty="0">
                <a:latin typeface="Times New Roman" panose="02020603050405020304" pitchFamily="18" charset="0"/>
                <a:cs typeface="Times New Roman" panose="02020603050405020304" pitchFamily="18" charset="0"/>
              </a:rPr>
              <a:t>Pushparaj(192421136)</a:t>
            </a:r>
          </a:p>
          <a:p>
            <a:r>
              <a:rPr lang="en-IN" dirty="0">
                <a:latin typeface="Times New Roman" panose="02020603050405020304" pitchFamily="18" charset="0"/>
                <a:cs typeface="Times New Roman" panose="02020603050405020304" pitchFamily="18" charset="0"/>
              </a:rPr>
              <a:t>Asif </a:t>
            </a:r>
            <a:r>
              <a:rPr lang="en-IN" dirty="0" err="1">
                <a:latin typeface="Times New Roman" panose="02020603050405020304" pitchFamily="18" charset="0"/>
                <a:cs typeface="Times New Roman" panose="02020603050405020304" pitchFamily="18" charset="0"/>
              </a:rPr>
              <a:t>ali</a:t>
            </a:r>
            <a:r>
              <a:rPr lang="en-IN" dirty="0">
                <a:latin typeface="Times New Roman" panose="02020603050405020304" pitchFamily="18" charset="0"/>
                <a:cs typeface="Times New Roman" panose="02020603050405020304" pitchFamily="18" charset="0"/>
              </a:rPr>
              <a:t> khan(192521009)</a:t>
            </a:r>
          </a:p>
          <a:p>
            <a:r>
              <a:rPr lang="en-IN" dirty="0">
                <a:latin typeface="Times New Roman" panose="02020603050405020304" pitchFamily="18" charset="0"/>
                <a:cs typeface="Times New Roman" panose="02020603050405020304" pitchFamily="18" charset="0"/>
              </a:rPr>
              <a:t>G. Sreekanth (192311422)</a:t>
            </a:r>
          </a:p>
          <a:p>
            <a:endParaRPr lang="en-IN"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1158AF7C-5B74-23C3-4F8B-3AA494C891A1}"/>
              </a:ext>
            </a:extLst>
          </p:cNvPr>
          <p:cNvSpPr txBox="1"/>
          <p:nvPr/>
        </p:nvSpPr>
        <p:spPr>
          <a:xfrm>
            <a:off x="7398327" y="5402966"/>
            <a:ext cx="4342569" cy="1384995"/>
          </a:xfrm>
          <a:prstGeom prst="rect">
            <a:avLst/>
          </a:prstGeom>
          <a:noFill/>
        </p:spPr>
        <p:txBody>
          <a:bodyPr wrap="square" rtlCol="0">
            <a:spAutoFit/>
          </a:bodyPr>
          <a:lstStyle/>
          <a:p>
            <a:pPr algn="r"/>
            <a:r>
              <a:rPr lang="en-IN" sz="2400" b="1" dirty="0">
                <a:latin typeface="Times New Roman" panose="02020603050405020304" pitchFamily="18" charset="0"/>
                <a:cs typeface="Times New Roman" panose="02020603050405020304" pitchFamily="18" charset="0"/>
              </a:rPr>
              <a:t>Guided By:</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Dr Thalapathi Rajasekaran R</a:t>
            </a:r>
          </a:p>
          <a:p>
            <a:pPr algn="r"/>
            <a:r>
              <a:rPr lang="en-IN" dirty="0"/>
              <a:t> </a:t>
            </a:r>
          </a:p>
          <a:p>
            <a:pPr algn="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92" y="131604"/>
            <a:ext cx="10972800" cy="1143000"/>
          </a:xfrm>
        </p:spPr>
        <p:txBody>
          <a:bodyPr>
            <a:normAutofit/>
          </a:bodyPr>
          <a:lstStyle/>
          <a:p>
            <a:r>
              <a:rPr lang="en-IN" sz="4000" b="1" dirty="0">
                <a:latin typeface="Times New Roman" panose="02020603050405020304" pitchFamily="18" charset="0"/>
                <a:cs typeface="Times New Roman" panose="02020603050405020304" pitchFamily="18" charset="0"/>
              </a:rPr>
              <a:t>Introduction </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4963" y="1499615"/>
            <a:ext cx="11042073" cy="4856737"/>
          </a:xfrm>
        </p:spPr>
        <p:txBody>
          <a:bodyPr>
            <a:noAutofit/>
          </a:bodyPr>
          <a:lstStyle/>
          <a:p>
            <a:pPr algn="just"/>
            <a:endParaRPr lang="en-IN" sz="2350" dirty="0"/>
          </a:p>
          <a:p>
            <a:pPr algn="just"/>
            <a:endParaRPr sz="2350" dirty="0"/>
          </a:p>
        </p:txBody>
      </p:sp>
      <p:sp>
        <p:nvSpPr>
          <p:cNvPr id="7" name="TextBox 6">
            <a:extLst>
              <a:ext uri="{FF2B5EF4-FFF2-40B4-BE49-F238E27FC236}">
                <a16:creationId xmlns:a16="http://schemas.microsoft.com/office/drawing/2014/main" id="{30C30C22-765F-3E81-333E-677E6C9B6D77}"/>
              </a:ext>
            </a:extLst>
          </p:cNvPr>
          <p:cNvSpPr txBox="1"/>
          <p:nvPr/>
        </p:nvSpPr>
        <p:spPr>
          <a:xfrm>
            <a:off x="574963" y="1423415"/>
            <a:ext cx="7020792" cy="4708981"/>
          </a:xfrm>
          <a:prstGeom prst="rect">
            <a:avLst/>
          </a:prstGeom>
          <a:noFill/>
        </p:spPr>
        <p:txBody>
          <a:bodyPr wrap="square">
            <a:spAutoFit/>
          </a:bodyPr>
          <a:lstStyle/>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Assessment plays an important role in measuring student learning.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Traditional quiz systems generally provide the same questions to all students.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These systems do not consider individual differences in student performance.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Strong students may repeatedly practice topics they already understand.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Weak topics may remain unnoticed without detailed performance analysis.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Manual identification of weak areas can take additional time.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proposed system tracks student performance on a topic-wise basis. </a:t>
            </a:r>
          </a:p>
          <a:p>
            <a:pPr marL="457200" lvl="0" indent="-4572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generates adaptive quizzes that focus more on the student's weak areas</a:t>
            </a:r>
            <a:r>
              <a:rPr lang="en-IN" sz="2000" dirty="0"/>
              <a:t>. </a:t>
            </a:r>
          </a:p>
        </p:txBody>
      </p:sp>
      <p:pic>
        <p:nvPicPr>
          <p:cNvPr id="6" name="Picture 5">
            <a:extLst>
              <a:ext uri="{FF2B5EF4-FFF2-40B4-BE49-F238E27FC236}">
                <a16:creationId xmlns:a16="http://schemas.microsoft.com/office/drawing/2014/main" id="{C1059D5D-DA28-908B-90D9-59D63282A491}"/>
              </a:ext>
            </a:extLst>
          </p:cNvPr>
          <p:cNvPicPr>
            <a:picLocks noChangeAspect="1"/>
          </p:cNvPicPr>
          <p:nvPr/>
        </p:nvPicPr>
        <p:blipFill>
          <a:blip r:embed="rId2"/>
          <a:stretch>
            <a:fillRect/>
          </a:stretch>
        </p:blipFill>
        <p:spPr>
          <a:xfrm>
            <a:off x="7595755" y="1724892"/>
            <a:ext cx="4423063" cy="45200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AEA8-25EE-3A8A-1FF7-6899097E3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640DE-6A66-C5A5-3E40-D3C27404ED76}"/>
              </a:ext>
            </a:extLst>
          </p:cNvPr>
          <p:cNvSpPr>
            <a:spLocks noGrp="1"/>
          </p:cNvSpPr>
          <p:nvPr>
            <p:ph type="title"/>
          </p:nvPr>
        </p:nvSpPr>
        <p:spPr>
          <a:xfrm>
            <a:off x="0" y="66468"/>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Problem Statement</a:t>
            </a:r>
            <a:endParaRPr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366DF5-59C4-9A79-BE2D-A3EF34A736C2}"/>
              </a:ext>
            </a:extLst>
          </p:cNvPr>
          <p:cNvSpPr>
            <a:spLocks noGrp="1"/>
          </p:cNvSpPr>
          <p:nvPr>
            <p:ph idx="1"/>
          </p:nvPr>
        </p:nvSpPr>
        <p:spPr>
          <a:xfrm>
            <a:off x="299119" y="1254600"/>
            <a:ext cx="11593761" cy="5466878"/>
          </a:xfrm>
        </p:spPr>
        <p:txBody>
          <a:bodyPr>
            <a:noAutofit/>
          </a:bodyPr>
          <a:lstStyle/>
          <a:p>
            <a:pPr lvl="0"/>
            <a:r>
              <a:rPr lang="en-IN" sz="2800" dirty="0">
                <a:latin typeface="Times New Roman" panose="02020603050405020304" pitchFamily="18" charset="0"/>
                <a:cs typeface="Times New Roman" panose="02020603050405020304" pitchFamily="18" charset="0"/>
              </a:rPr>
              <a:t>Existing quiz systems mainly depend on fixed or random question selection. </a:t>
            </a:r>
          </a:p>
          <a:p>
            <a:pPr lvl="0"/>
            <a:r>
              <a:rPr lang="en-IN" sz="2800" dirty="0">
                <a:latin typeface="Times New Roman" panose="02020603050405020304" pitchFamily="18" charset="0"/>
                <a:cs typeface="Times New Roman" panose="02020603050405020304" pitchFamily="18" charset="0"/>
              </a:rPr>
              <a:t>The same type of questions may be given to students with different skill levels. </a:t>
            </a:r>
          </a:p>
          <a:p>
            <a:pPr lvl="0"/>
            <a:r>
              <a:rPr lang="en-IN" sz="2800" dirty="0">
                <a:latin typeface="Times New Roman" panose="02020603050405020304" pitchFamily="18" charset="0"/>
                <a:cs typeface="Times New Roman" panose="02020603050405020304" pitchFamily="18" charset="0"/>
              </a:rPr>
              <a:t>Student-specific weak areas are not automatically identified. </a:t>
            </a:r>
          </a:p>
          <a:p>
            <a:pPr lvl="0"/>
            <a:r>
              <a:rPr lang="en-IN" sz="2800" dirty="0">
                <a:latin typeface="Times New Roman" panose="02020603050405020304" pitchFamily="18" charset="0"/>
                <a:cs typeface="Times New Roman" panose="02020603050405020304" pitchFamily="18" charset="0"/>
              </a:rPr>
              <a:t>Teachers may have to manually examine quiz results. </a:t>
            </a:r>
          </a:p>
          <a:p>
            <a:pPr lvl="0"/>
            <a:r>
              <a:rPr lang="en-IN" sz="2800" dirty="0">
                <a:latin typeface="Times New Roman" panose="02020603050405020304" pitchFamily="18" charset="0"/>
                <a:cs typeface="Times New Roman" panose="02020603050405020304" pitchFamily="18" charset="0"/>
              </a:rPr>
              <a:t>Students may not receive sufficient practice in difficult topics. </a:t>
            </a:r>
          </a:p>
          <a:p>
            <a:pPr lvl="0"/>
            <a:r>
              <a:rPr lang="en-IN" sz="2800" dirty="0">
                <a:latin typeface="Times New Roman" panose="02020603050405020304" pitchFamily="18" charset="0"/>
                <a:cs typeface="Times New Roman" panose="02020603050405020304" pitchFamily="18" charset="0"/>
              </a:rPr>
              <a:t>Highly advanced adaptive testing systems can require complex statistical models. </a:t>
            </a:r>
          </a:p>
          <a:p>
            <a:pPr lvl="0"/>
            <a:r>
              <a:rPr lang="en-IN" sz="2800" dirty="0">
                <a:latin typeface="Times New Roman" panose="02020603050405020304" pitchFamily="18" charset="0"/>
                <a:cs typeface="Times New Roman" panose="02020603050405020304" pitchFamily="18" charset="0"/>
              </a:rPr>
              <a:t>Such systems may also require large datasets and computational resources. </a:t>
            </a:r>
          </a:p>
          <a:p>
            <a:pPr lvl="0"/>
            <a:r>
              <a:rPr lang="en-IN" sz="2800" dirty="0">
                <a:latin typeface="Times New Roman" panose="02020603050405020304" pitchFamily="18" charset="0"/>
                <a:cs typeface="Times New Roman" panose="02020603050405020304" pitchFamily="18" charset="0"/>
              </a:rPr>
              <a:t>Therefore, a simple and lightweight rule-based adaptive quiz system is needed. </a:t>
            </a:r>
          </a:p>
          <a:p>
            <a:pPr algn="just">
              <a:lnSpc>
                <a:spcPct val="150000"/>
              </a:lnSpc>
            </a:pPr>
            <a:endParaRPr lang="en-IN" sz="2800" dirty="0">
              <a:latin typeface="Times New Roman" panose="02020603050405020304" pitchFamily="18" charset="0"/>
              <a:cs typeface="Times New Roman" panose="02020603050405020304" pitchFamily="18" charset="0"/>
            </a:endParaRPr>
          </a:p>
          <a:p>
            <a:pPr algn="just">
              <a:lnSpc>
                <a:spcPct val="150000"/>
              </a:lnSpc>
            </a:pPr>
            <a:endParaRPr sz="2200" dirty="0"/>
          </a:p>
        </p:txBody>
      </p:sp>
      <p:sp>
        <p:nvSpPr>
          <p:cNvPr id="5" name="Slide Number Placeholder 4">
            <a:extLst>
              <a:ext uri="{FF2B5EF4-FFF2-40B4-BE49-F238E27FC236}">
                <a16:creationId xmlns:a16="http://schemas.microsoft.com/office/drawing/2014/main" id="{E94D9C3D-85DB-E592-5857-F9E0B672DA3F}"/>
              </a:ext>
            </a:extLst>
          </p:cNvPr>
          <p:cNvSpPr>
            <a:spLocks noGrp="1"/>
          </p:cNvSpPr>
          <p:nvPr>
            <p:ph type="sldNum" sz="quarter" idx="12"/>
          </p:nvPr>
        </p:nvSpPr>
        <p:spPr/>
        <p:txBody>
          <a:bodyPr/>
          <a:lstStyle/>
          <a:p>
            <a:fld id="{C1FF6DA9-008F-8B48-92A6-B652298478BF}" type="slidenum">
              <a:rPr lang="en-US" smtClean="0"/>
              <a:t>3</a:t>
            </a:fld>
            <a:endParaRPr lang="en-US" dirty="0"/>
          </a:p>
        </p:txBody>
      </p:sp>
    </p:spTree>
    <p:extLst>
      <p:ext uri="{BB962C8B-B14F-4D97-AF65-F5344CB8AC3E}">
        <p14:creationId xmlns:p14="http://schemas.microsoft.com/office/powerpoint/2010/main" val="331887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C83A3-70C5-70A7-A2A4-BDE1CBA0D561}"/>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6FE455C8-47FF-C0FC-819F-A19C266F1982}"/>
              </a:ext>
            </a:extLst>
          </p:cNvPr>
          <p:cNvSpPr>
            <a:spLocks noGrp="1"/>
          </p:cNvSpPr>
          <p:nvPr>
            <p:ph idx="1"/>
          </p:nvPr>
        </p:nvSpPr>
        <p:spPr/>
        <p:txBody>
          <a:bodyPr>
            <a:normAutofit fontScale="92500" lnSpcReduction="10000"/>
          </a:bodyPr>
          <a:lstStyle/>
          <a:p>
            <a:pPr lvl="0"/>
            <a:r>
              <a:rPr lang="en-IN" sz="3000" dirty="0">
                <a:latin typeface="Times New Roman" panose="02020603050405020304" pitchFamily="18" charset="0"/>
                <a:cs typeface="Times New Roman" panose="02020603050405020304" pitchFamily="18" charset="0"/>
              </a:rPr>
              <a:t>Develop a Java desktop application using </a:t>
            </a:r>
            <a:r>
              <a:rPr lang="en-IN" sz="3000" b="1" dirty="0">
                <a:latin typeface="Times New Roman" panose="02020603050405020304" pitchFamily="18" charset="0"/>
                <a:cs typeface="Times New Roman" panose="02020603050405020304" pitchFamily="18" charset="0"/>
              </a:rPr>
              <a:t>Java Swing</a:t>
            </a:r>
            <a:r>
              <a:rPr lang="en-IN" sz="3000" dirty="0">
                <a:latin typeface="Times New Roman" panose="02020603050405020304" pitchFamily="18" charset="0"/>
                <a:cs typeface="Times New Roman" panose="02020603050405020304" pitchFamily="18" charset="0"/>
              </a:rPr>
              <a:t>. </a:t>
            </a:r>
          </a:p>
          <a:p>
            <a:pPr lvl="0"/>
            <a:r>
              <a:rPr lang="en-IN" sz="3000" dirty="0">
                <a:latin typeface="Times New Roman" panose="02020603050405020304" pitchFamily="18" charset="0"/>
                <a:cs typeface="Times New Roman" panose="02020603050405020304" pitchFamily="18" charset="0"/>
              </a:rPr>
              <a:t>Use </a:t>
            </a:r>
            <a:r>
              <a:rPr lang="en-IN" sz="3000" b="1" dirty="0">
                <a:latin typeface="Times New Roman" panose="02020603050405020304" pitchFamily="18" charset="0"/>
                <a:cs typeface="Times New Roman" panose="02020603050405020304" pitchFamily="18" charset="0"/>
              </a:rPr>
              <a:t>SQLite</a:t>
            </a:r>
            <a:r>
              <a:rPr lang="en-IN" sz="3000" dirty="0">
                <a:latin typeface="Times New Roman" panose="02020603050405020304" pitchFamily="18" charset="0"/>
                <a:cs typeface="Times New Roman" panose="02020603050405020304" pitchFamily="18" charset="0"/>
              </a:rPr>
              <a:t> to store questions, quiz sessions, and student attempts. </a:t>
            </a:r>
          </a:p>
          <a:p>
            <a:pPr lvl="0"/>
            <a:r>
              <a:rPr lang="en-IN" sz="3000" dirty="0">
                <a:latin typeface="Times New Roman" panose="02020603050405020304" pitchFamily="18" charset="0"/>
                <a:cs typeface="Times New Roman" panose="02020603050405020304" pitchFamily="18" charset="0"/>
              </a:rPr>
              <a:t>Connect the application and database using </a:t>
            </a:r>
            <a:r>
              <a:rPr lang="en-IN" sz="3000" b="1" dirty="0">
                <a:latin typeface="Times New Roman" panose="02020603050405020304" pitchFamily="18" charset="0"/>
                <a:cs typeface="Times New Roman" panose="02020603050405020304" pitchFamily="18" charset="0"/>
              </a:rPr>
              <a:t>JDBC</a:t>
            </a:r>
            <a:r>
              <a:rPr lang="en-IN" sz="3000" dirty="0">
                <a:latin typeface="Times New Roman" panose="02020603050405020304" pitchFamily="18" charset="0"/>
                <a:cs typeface="Times New Roman" panose="02020603050405020304" pitchFamily="18" charset="0"/>
              </a:rPr>
              <a:t>. </a:t>
            </a:r>
          </a:p>
          <a:p>
            <a:pPr lvl="0"/>
            <a:r>
              <a:rPr lang="en-IN" sz="3000" dirty="0">
                <a:latin typeface="Times New Roman" panose="02020603050405020304" pitchFamily="18" charset="0"/>
                <a:cs typeface="Times New Roman" panose="02020603050405020304" pitchFamily="18" charset="0"/>
              </a:rPr>
              <a:t>Conduct quizzes and record every student response. </a:t>
            </a:r>
          </a:p>
          <a:p>
            <a:pPr lvl="0"/>
            <a:r>
              <a:rPr lang="en-IN" sz="3000" dirty="0">
                <a:latin typeface="Times New Roman" panose="02020603050405020304" pitchFamily="18" charset="0"/>
                <a:cs typeface="Times New Roman" panose="02020603050405020304" pitchFamily="18" charset="0"/>
              </a:rPr>
              <a:t>Calculate topic-wise accuracy from the stored responses. </a:t>
            </a:r>
          </a:p>
          <a:p>
            <a:pPr lvl="0"/>
            <a:r>
              <a:rPr lang="en-IN" sz="3000" dirty="0">
                <a:latin typeface="Times New Roman" panose="02020603050405020304" pitchFamily="18" charset="0"/>
                <a:cs typeface="Times New Roman" panose="02020603050405020304" pitchFamily="18" charset="0"/>
              </a:rPr>
              <a:t>Mark a topic as weak when its accuracy falls below </a:t>
            </a:r>
            <a:r>
              <a:rPr lang="en-IN" sz="3000" b="1" dirty="0">
                <a:latin typeface="Times New Roman" panose="02020603050405020304" pitchFamily="18" charset="0"/>
                <a:cs typeface="Times New Roman" panose="02020603050405020304" pitchFamily="18" charset="0"/>
              </a:rPr>
              <a:t>60%</a:t>
            </a:r>
            <a:r>
              <a:rPr lang="en-IN" sz="3000" dirty="0">
                <a:latin typeface="Times New Roman" panose="02020603050405020304" pitchFamily="18" charset="0"/>
                <a:cs typeface="Times New Roman" panose="02020603050405020304" pitchFamily="18" charset="0"/>
              </a:rPr>
              <a:t>. </a:t>
            </a:r>
          </a:p>
          <a:p>
            <a:pPr lvl="0"/>
            <a:r>
              <a:rPr lang="en-IN" sz="3000" dirty="0">
                <a:latin typeface="Times New Roman" panose="02020603050405020304" pitchFamily="18" charset="0"/>
                <a:cs typeface="Times New Roman" panose="02020603050405020304" pitchFamily="18" charset="0"/>
              </a:rPr>
              <a:t>Generate the next quiz with approximately </a:t>
            </a:r>
            <a:r>
              <a:rPr lang="en-IN" sz="3000" b="1" dirty="0">
                <a:latin typeface="Times New Roman" panose="02020603050405020304" pitchFamily="18" charset="0"/>
                <a:cs typeface="Times New Roman" panose="02020603050405020304" pitchFamily="18" charset="0"/>
              </a:rPr>
              <a:t>70% weak-topic questions</a:t>
            </a:r>
            <a:r>
              <a:rPr lang="en-IN" sz="3000" dirty="0">
                <a:latin typeface="Times New Roman" panose="02020603050405020304" pitchFamily="18" charset="0"/>
                <a:cs typeface="Times New Roman" panose="02020603050405020304" pitchFamily="18" charset="0"/>
              </a:rPr>
              <a:t>. </a:t>
            </a:r>
          </a:p>
          <a:p>
            <a:pPr lvl="0"/>
            <a:r>
              <a:rPr lang="en-IN" sz="3000" dirty="0">
                <a:latin typeface="Times New Roman" panose="02020603050405020304" pitchFamily="18" charset="0"/>
                <a:cs typeface="Times New Roman" panose="02020603050405020304" pitchFamily="18" charset="0"/>
              </a:rPr>
              <a:t>Use the remaining </a:t>
            </a:r>
            <a:r>
              <a:rPr lang="en-IN" sz="3000" b="1" dirty="0">
                <a:latin typeface="Times New Roman" panose="02020603050405020304" pitchFamily="18" charset="0"/>
                <a:cs typeface="Times New Roman" panose="02020603050405020304" pitchFamily="18" charset="0"/>
              </a:rPr>
              <a:t>30% questions from other topics</a:t>
            </a:r>
            <a:r>
              <a:rPr lang="en-IN" sz="3000" dirty="0">
                <a:latin typeface="Times New Roman" panose="02020603050405020304" pitchFamily="18" charset="0"/>
                <a:cs typeface="Times New Roman" panose="02020603050405020304" pitchFamily="18" charset="0"/>
              </a:rPr>
              <a:t> and display the results on the dashboard.</a:t>
            </a:r>
          </a:p>
          <a:p>
            <a:endParaRPr lang="en-IN" dirty="0"/>
          </a:p>
        </p:txBody>
      </p:sp>
      <p:sp>
        <p:nvSpPr>
          <p:cNvPr id="4" name="Slide Number Placeholder 3">
            <a:extLst>
              <a:ext uri="{FF2B5EF4-FFF2-40B4-BE49-F238E27FC236}">
                <a16:creationId xmlns:a16="http://schemas.microsoft.com/office/drawing/2014/main" id="{374B5C34-2ADD-F4C7-6AC0-8BB5E2E750CA}"/>
              </a:ext>
            </a:extLst>
          </p:cNvPr>
          <p:cNvSpPr>
            <a:spLocks noGrp="1"/>
          </p:cNvSpPr>
          <p:nvPr>
            <p:ph type="sldNum" sz="quarter" idx="12"/>
          </p:nvPr>
        </p:nvSpPr>
        <p:spPr/>
        <p:txBody>
          <a:bodyPr/>
          <a:lstStyle/>
          <a:p>
            <a:fld id="{C1FF6DA9-008F-8B48-92A6-B652298478BF}" type="slidenum">
              <a:rPr lang="en-US" smtClean="0"/>
              <a:t>4</a:t>
            </a:fld>
            <a:endParaRPr lang="en-US" dirty="0"/>
          </a:p>
        </p:txBody>
      </p:sp>
    </p:spTree>
    <p:extLst>
      <p:ext uri="{BB962C8B-B14F-4D97-AF65-F5344CB8AC3E}">
        <p14:creationId xmlns:p14="http://schemas.microsoft.com/office/powerpoint/2010/main" val="1891490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1" name="Picture 3" descr="computer networking devices">
            <a:extLst>
              <a:ext uri="{FF2B5EF4-FFF2-40B4-BE49-F238E27FC236}">
                <a16:creationId xmlns:a16="http://schemas.microsoft.com/office/drawing/2014/main" id="{0809DE31-75E3-796F-C6AA-61E136C02E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9131" y="-1"/>
            <a:ext cx="3362869" cy="3500525"/>
          </a:xfrm>
          <a:prstGeom prst="rect">
            <a:avLst/>
          </a:prstGeom>
          <a:noFill/>
          <a:effectLst>
            <a:reflection stA="25000" endPos="650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09600" y="469523"/>
            <a:ext cx="10972800" cy="1143000"/>
          </a:xfrm>
        </p:spPr>
        <p:txBody>
          <a:bodyPr>
            <a:normAutofit/>
          </a:bodyPr>
          <a:lstStyle/>
          <a:p>
            <a:pPr algn="l"/>
            <a:r>
              <a:rPr sz="4000" b="1" dirty="0">
                <a:latin typeface="Times New Roman" panose="02020603050405020304" pitchFamily="18" charset="0"/>
                <a:cs typeface="Times New Roman" panose="02020603050405020304" pitchFamily="18" charset="0"/>
              </a:rPr>
              <a:t>Scope </a:t>
            </a:r>
            <a:r>
              <a:rPr lang="en-IN" sz="4000" b="1" dirty="0">
                <a:latin typeface="Times New Roman" panose="02020603050405020304" pitchFamily="18" charset="0"/>
                <a:cs typeface="Times New Roman" panose="02020603050405020304" pitchFamily="18" charset="0"/>
              </a:rPr>
              <a:t>and Objective </a:t>
            </a:r>
            <a:r>
              <a:rPr sz="4000" b="1" dirty="0">
                <a:latin typeface="Times New Roman" panose="02020603050405020304" pitchFamily="18" charset="0"/>
                <a:cs typeface="Times New Roman" panose="02020603050405020304" pitchFamily="18" charset="0"/>
              </a:rPr>
              <a:t>of the Project</a:t>
            </a:r>
          </a:p>
        </p:txBody>
      </p:sp>
      <p:sp>
        <p:nvSpPr>
          <p:cNvPr id="4" name="Rectangle 1">
            <a:extLst>
              <a:ext uri="{FF2B5EF4-FFF2-40B4-BE49-F238E27FC236}">
                <a16:creationId xmlns:a16="http://schemas.microsoft.com/office/drawing/2014/main" id="{53322C2B-EE4B-A2C7-53C3-7459EC3A61B6}"/>
              </a:ext>
            </a:extLst>
          </p:cNvPr>
          <p:cNvSpPr>
            <a:spLocks noGrp="1" noChangeArrowheads="1"/>
          </p:cNvSpPr>
          <p:nvPr>
            <p:ph idx="1"/>
          </p:nvPr>
        </p:nvSpPr>
        <p:spPr bwMode="auto">
          <a:xfrm>
            <a:off x="443346" y="1694822"/>
            <a:ext cx="8100290" cy="447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IN" sz="2400" dirty="0">
                <a:latin typeface="Times New Roman" panose="02020603050405020304" pitchFamily="18" charset="0"/>
                <a:cs typeface="Times New Roman" panose="02020603050405020304" pitchFamily="18" charset="0"/>
              </a:rPr>
              <a:t>Develop an automated quiz application using Java. </a:t>
            </a:r>
          </a:p>
          <a:p>
            <a:pPr lvl="0" algn="just"/>
            <a:r>
              <a:rPr lang="en-IN" sz="2400" dirty="0">
                <a:latin typeface="Times New Roman" panose="02020603050405020304" pitchFamily="18" charset="0"/>
                <a:cs typeface="Times New Roman" panose="02020603050405020304" pitchFamily="18" charset="0"/>
              </a:rPr>
              <a:t>Create a centralized question bank for storing quiz questions. </a:t>
            </a:r>
          </a:p>
          <a:p>
            <a:pPr lvl="0" algn="just"/>
            <a:r>
              <a:rPr lang="en-IN" sz="2400" dirty="0">
                <a:latin typeface="Times New Roman" panose="02020603050405020304" pitchFamily="18" charset="0"/>
                <a:cs typeface="Times New Roman" panose="02020603050405020304" pitchFamily="18" charset="0"/>
              </a:rPr>
              <a:t>Provide both random and adaptive quiz modes. </a:t>
            </a:r>
          </a:p>
          <a:p>
            <a:pPr lvl="0" algn="just"/>
            <a:r>
              <a:rPr lang="en-IN" sz="2400" dirty="0">
                <a:latin typeface="Times New Roman" panose="02020603050405020304" pitchFamily="18" charset="0"/>
                <a:cs typeface="Times New Roman" panose="02020603050405020304" pitchFamily="18" charset="0"/>
              </a:rPr>
              <a:t>Calculate student performance for individual topics. </a:t>
            </a:r>
          </a:p>
          <a:p>
            <a:pPr lvl="0" algn="just"/>
            <a:r>
              <a:rPr lang="en-IN" sz="2400" dirty="0">
                <a:latin typeface="Times New Roman" panose="02020603050405020304" pitchFamily="18" charset="0"/>
                <a:cs typeface="Times New Roman" panose="02020603050405020304" pitchFamily="18" charset="0"/>
              </a:rPr>
              <a:t>Automatically identify topics where the student needs improvement. </a:t>
            </a:r>
          </a:p>
          <a:p>
            <a:pPr lvl="0" algn="just"/>
            <a:r>
              <a:rPr lang="en-IN" sz="2400" dirty="0">
                <a:latin typeface="Times New Roman" panose="02020603050405020304" pitchFamily="18" charset="0"/>
                <a:cs typeface="Times New Roman" panose="02020603050405020304" pitchFamily="18" charset="0"/>
              </a:rPr>
              <a:t>Generate follow-up quizzes based on previous performance. </a:t>
            </a:r>
          </a:p>
          <a:p>
            <a:pPr lvl="0" algn="just"/>
            <a:r>
              <a:rPr lang="en-IN" sz="2400" dirty="0">
                <a:latin typeface="Times New Roman" panose="02020603050405020304" pitchFamily="18" charset="0"/>
                <a:cs typeface="Times New Roman" panose="02020603050405020304" pitchFamily="18" charset="0"/>
              </a:rPr>
              <a:t>Provide more practice questions from weak topics. </a:t>
            </a:r>
          </a:p>
          <a:p>
            <a:pPr lvl="0" algn="just"/>
            <a:r>
              <a:rPr lang="en-IN" sz="2400" dirty="0">
                <a:latin typeface="Times New Roman" panose="02020603050405020304" pitchFamily="18" charset="0"/>
                <a:cs typeface="Times New Roman" panose="02020603050405020304" pitchFamily="18" charset="0"/>
              </a:rPr>
              <a:t>Display quiz history and performance through a dashboard</a:t>
            </a:r>
          </a:p>
          <a:p>
            <a:pPr marL="0" indent="0" defTabSz="914400" eaLnBrk="0" fontAlgn="base" hangingPunct="0">
              <a:lnSpc>
                <a:spcPct val="150000"/>
              </a:lnSpc>
              <a:spcBef>
                <a:spcPct val="0"/>
              </a:spcBef>
              <a:spcAft>
                <a:spcPct val="0"/>
              </a:spcAft>
              <a:buNone/>
            </a:pPr>
            <a:endParaRPr kumimoji="0" lang="en-US" altLang="en-US" sz="2700" b="0" i="0" u="none" strike="noStrike" cap="none" normalizeH="0" baseline="0" dirty="0">
              <a:ln>
                <a:noFill/>
              </a:ln>
              <a:solidFill>
                <a:schemeClr val="tx1"/>
              </a:solidFill>
              <a:effectLst/>
              <a:latin typeface="Arial" panose="020B0604020202020204" pitchFamily="34" charset="0"/>
            </a:endParaRPr>
          </a:p>
        </p:txBody>
      </p:sp>
      <p:pic>
        <p:nvPicPr>
          <p:cNvPr id="2053" name="Picture 5">
            <a:extLst>
              <a:ext uri="{FF2B5EF4-FFF2-40B4-BE49-F238E27FC236}">
                <a16:creationId xmlns:a16="http://schemas.microsoft.com/office/drawing/2014/main" id="{0CD509BB-A383-F361-96A7-6322566C15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9130" y="3500525"/>
            <a:ext cx="3362696" cy="336269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96F95E9-160F-0717-EA84-B903709B5C39}"/>
              </a:ext>
            </a:extLst>
          </p:cNvPr>
          <p:cNvSpPr>
            <a:spLocks noGrp="1"/>
          </p:cNvSpPr>
          <p:nvPr>
            <p:ph type="sldNum" sz="quarter" idx="12"/>
          </p:nvPr>
        </p:nvSpPr>
        <p:spPr/>
        <p:txBody>
          <a:bodyPr/>
          <a:lstStyle/>
          <a:p>
            <a:fld id="{C1FF6DA9-008F-8B48-92A6-B652298478BF}" type="slidenum">
              <a:rPr lang="en-US" smtClean="0"/>
              <a:t>5</a:t>
            </a:fld>
            <a:endParaRPr lang="en-US" dirty="0"/>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143000"/>
          </a:xfrm>
        </p:spPr>
        <p:txBody>
          <a:bodyPr>
            <a:normAutofit/>
          </a:bodyPr>
          <a:lstStyle/>
          <a:p>
            <a:r>
              <a:rPr sz="4000" b="1" dirty="0">
                <a:latin typeface="Times New Roman" panose="02020603050405020304" pitchFamily="18" charset="0"/>
                <a:cs typeface="Times New Roman" panose="02020603050405020304" pitchFamily="18" charset="0"/>
              </a:rPr>
              <a:t>Literature Review</a:t>
            </a:r>
          </a:p>
        </p:txBody>
      </p:sp>
      <p:sp>
        <p:nvSpPr>
          <p:cNvPr id="4" name="Slide Number Placeholder 3">
            <a:extLst>
              <a:ext uri="{FF2B5EF4-FFF2-40B4-BE49-F238E27FC236}">
                <a16:creationId xmlns:a16="http://schemas.microsoft.com/office/drawing/2014/main" id="{CFF0F405-8409-B301-F6F0-FBBB06F1B352}"/>
              </a:ext>
            </a:extLst>
          </p:cNvPr>
          <p:cNvSpPr>
            <a:spLocks noGrp="1"/>
          </p:cNvSpPr>
          <p:nvPr>
            <p:ph type="sldNum" sz="quarter" idx="12"/>
          </p:nvPr>
        </p:nvSpPr>
        <p:spPr/>
        <p:txBody>
          <a:bodyPr/>
          <a:lstStyle/>
          <a:p>
            <a:fld id="{C1FF6DA9-008F-8B48-92A6-B652298478BF}" type="slidenum">
              <a:rPr lang="en-US" smtClean="0"/>
              <a:t>6</a:t>
            </a:fld>
            <a:endParaRPr lang="en-US" dirty="0"/>
          </a:p>
        </p:txBody>
      </p:sp>
      <p:sp>
        <p:nvSpPr>
          <p:cNvPr id="6" name="TextBox 5">
            <a:extLst>
              <a:ext uri="{FF2B5EF4-FFF2-40B4-BE49-F238E27FC236}">
                <a16:creationId xmlns:a16="http://schemas.microsoft.com/office/drawing/2014/main" id="{3FB8D2C8-5CF3-2948-B353-F9C87AC6EA79}"/>
              </a:ext>
            </a:extLst>
          </p:cNvPr>
          <p:cNvSpPr txBox="1"/>
          <p:nvPr/>
        </p:nvSpPr>
        <p:spPr>
          <a:xfrm>
            <a:off x="3047133" y="3244334"/>
            <a:ext cx="7988011" cy="369332"/>
          </a:xfrm>
          <a:prstGeom prst="rect">
            <a:avLst/>
          </a:prstGeom>
          <a:noFill/>
        </p:spPr>
        <p:txBody>
          <a:bodyPr wrap="square">
            <a:spAutoFit/>
          </a:bodyPr>
          <a:lstStyle/>
          <a:p>
            <a:endParaRPr lang="en-IN" dirty="0"/>
          </a:p>
        </p:txBody>
      </p:sp>
      <p:graphicFrame>
        <p:nvGraphicFramePr>
          <p:cNvPr id="7" name="Table 6">
            <a:extLst>
              <a:ext uri="{FF2B5EF4-FFF2-40B4-BE49-F238E27FC236}">
                <a16:creationId xmlns:a16="http://schemas.microsoft.com/office/drawing/2014/main" id="{F5A1FD33-FEBF-BE98-1956-759082D195CF}"/>
              </a:ext>
            </a:extLst>
          </p:cNvPr>
          <p:cNvGraphicFramePr>
            <a:graphicFrameLocks noGrp="1"/>
          </p:cNvGraphicFramePr>
          <p:nvPr>
            <p:extLst>
              <p:ext uri="{D42A27DB-BD31-4B8C-83A1-F6EECF244321}">
                <p14:modId xmlns:p14="http://schemas.microsoft.com/office/powerpoint/2010/main" val="3583477329"/>
              </p:ext>
            </p:extLst>
          </p:nvPr>
        </p:nvGraphicFramePr>
        <p:xfrm>
          <a:off x="306251" y="1227720"/>
          <a:ext cx="11366203" cy="5334000"/>
        </p:xfrm>
        <a:graphic>
          <a:graphicData uri="http://schemas.openxmlformats.org/drawingml/2006/table">
            <a:tbl>
              <a:tblPr firstRow="1" bandRow="1">
                <a:tableStyleId>{5C22544A-7EE6-4342-B048-85BDC9FD1C3A}</a:tableStyleId>
              </a:tblPr>
              <a:tblGrid>
                <a:gridCol w="1119645">
                  <a:extLst>
                    <a:ext uri="{9D8B030D-6E8A-4147-A177-3AD203B41FA5}">
                      <a16:colId xmlns:a16="http://schemas.microsoft.com/office/drawing/2014/main" val="1000609688"/>
                    </a:ext>
                  </a:extLst>
                </a:gridCol>
                <a:gridCol w="2945776">
                  <a:extLst>
                    <a:ext uri="{9D8B030D-6E8A-4147-A177-3AD203B41FA5}">
                      <a16:colId xmlns:a16="http://schemas.microsoft.com/office/drawing/2014/main" val="2061681584"/>
                    </a:ext>
                  </a:extLst>
                </a:gridCol>
                <a:gridCol w="2396563">
                  <a:extLst>
                    <a:ext uri="{9D8B030D-6E8A-4147-A177-3AD203B41FA5}">
                      <a16:colId xmlns:a16="http://schemas.microsoft.com/office/drawing/2014/main" val="312691570"/>
                    </a:ext>
                  </a:extLst>
                </a:gridCol>
                <a:gridCol w="2426521">
                  <a:extLst>
                    <a:ext uri="{9D8B030D-6E8A-4147-A177-3AD203B41FA5}">
                      <a16:colId xmlns:a16="http://schemas.microsoft.com/office/drawing/2014/main" val="2554989953"/>
                    </a:ext>
                  </a:extLst>
                </a:gridCol>
                <a:gridCol w="2477698">
                  <a:extLst>
                    <a:ext uri="{9D8B030D-6E8A-4147-A177-3AD203B41FA5}">
                      <a16:colId xmlns:a16="http://schemas.microsoft.com/office/drawing/2014/main" val="70423860"/>
                    </a:ext>
                  </a:extLst>
                </a:gridCol>
              </a:tblGrid>
              <a:tr h="939281">
                <a:tc>
                  <a:txBody>
                    <a:bodyPr/>
                    <a:lstStyle/>
                    <a:p>
                      <a:pPr>
                        <a:buNone/>
                      </a:pPr>
                      <a:r>
                        <a:rPr lang="en-IN" sz="1600" b="1"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Author / Study Focus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Existing System Features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Limitations Identified</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Proposed Enhancement in Green Building Energy Monitoring &amp; Sustainability Dashboard</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75720089"/>
                  </a:ext>
                </a:extLst>
              </a:tr>
              <a:tr h="724588">
                <a:tc>
                  <a:txBody>
                    <a:bodyPr/>
                    <a:lstStyle/>
                    <a:p>
                      <a:pPr>
                        <a:buNone/>
                      </a:pPr>
                      <a:r>
                        <a:rPr lang="en-IN" sz="1600" b="1" dirty="0">
                          <a:latin typeface="Times New Roman" panose="02020603050405020304" pitchFamily="18" charset="0"/>
                          <a:cs typeface="Times New Roman" panose="02020603050405020304" pitchFamily="18" charset="0"/>
                        </a:rPr>
                        <a:t>2026</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Khare et al. – AI-Driven Online Quiz Assessment System</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AI/LLM-based dynamic question generation and contextual quiz creation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Depends on </a:t>
                      </a:r>
                      <a:r>
                        <a:rPr lang="en-IN" sz="1600" b="1" dirty="0">
                          <a:latin typeface="Times New Roman" panose="02020603050405020304" pitchFamily="18" charset="0"/>
                          <a:cs typeface="Times New Roman" panose="02020603050405020304" pitchFamily="18" charset="0"/>
                        </a:rPr>
                        <a:t>external APIs and internet connectivity</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Provides a </a:t>
                      </a:r>
                      <a:r>
                        <a:rPr lang="en-IN" sz="1600" b="1" dirty="0">
                          <a:latin typeface="Times New Roman" panose="02020603050405020304" pitchFamily="18" charset="0"/>
                          <a:cs typeface="Times New Roman" panose="02020603050405020304" pitchFamily="18" charset="0"/>
                        </a:rPr>
                        <a:t>self-contained offline question bank</a:t>
                      </a:r>
                      <a:r>
                        <a:rPr lang="en-IN" sz="1600" dirty="0">
                          <a:latin typeface="Times New Roman" panose="02020603050405020304" pitchFamily="18" charset="0"/>
                          <a:cs typeface="Times New Roman" panose="02020603050405020304" pitchFamily="18" charset="0"/>
                        </a:rPr>
                        <a:t> using Java and SQLite</a:t>
                      </a:r>
                    </a:p>
                  </a:txBody>
                  <a:tcPr anchor="ctr"/>
                </a:tc>
                <a:extLst>
                  <a:ext uri="{0D108BD9-81ED-4DB2-BD59-A6C34878D82A}">
                    <a16:rowId xmlns:a16="http://schemas.microsoft.com/office/drawing/2014/main" val="3433379716"/>
                  </a:ext>
                </a:extLst>
              </a:tr>
              <a:tr h="939281">
                <a:tc>
                  <a:txBody>
                    <a:bodyPr/>
                    <a:lstStyle/>
                    <a:p>
                      <a:pPr>
                        <a:buNone/>
                      </a:pPr>
                      <a:r>
                        <a:rPr lang="en-IN" sz="1600" b="1"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Suresh et al. – Learning Assistant and Weakness Identification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Learning assessment, weak-area identification, recursive testing and skill </a:t>
                      </a:r>
                      <a:r>
                        <a:rPr lang="en-IN" sz="1600" dirty="0" err="1">
                          <a:latin typeface="Times New Roman" panose="02020603050405020304" pitchFamily="18" charset="0"/>
                          <a:cs typeface="Times New Roman" panose="02020603050405020304" pitchFamily="18" charset="0"/>
                        </a:rPr>
                        <a:t>improvemen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More complex learning-assistance approach; may require advanced processing</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Provides a </a:t>
                      </a:r>
                      <a:r>
                        <a:rPr lang="en-IN" sz="1600" b="1" dirty="0">
                          <a:latin typeface="Times New Roman" panose="02020603050405020304" pitchFamily="18" charset="0"/>
                          <a:cs typeface="Times New Roman" panose="02020603050405020304" pitchFamily="18" charset="0"/>
                        </a:rPr>
                        <a:t>simple adaptive quiz mechanism</a:t>
                      </a:r>
                      <a:r>
                        <a:rPr lang="en-IN" sz="1600" dirty="0">
                          <a:latin typeface="Times New Roman" panose="02020603050405020304" pitchFamily="18" charset="0"/>
                          <a:cs typeface="Times New Roman" panose="02020603050405020304" pitchFamily="18" charset="0"/>
                        </a:rPr>
                        <a:t> using 60% threshold and 70/30 question selection</a:t>
                      </a:r>
                    </a:p>
                  </a:txBody>
                  <a:tcPr anchor="ctr"/>
                </a:tc>
                <a:extLst>
                  <a:ext uri="{0D108BD9-81ED-4DB2-BD59-A6C34878D82A}">
                    <a16:rowId xmlns:a16="http://schemas.microsoft.com/office/drawing/2014/main" val="928825461"/>
                  </a:ext>
                </a:extLst>
              </a:tr>
              <a:tr h="939281">
                <a:tc>
                  <a:txBody>
                    <a:bodyPr/>
                    <a:lstStyle/>
                    <a:p>
                      <a:pPr>
                        <a:buNone/>
                      </a:pPr>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Shen et al. – Quiz-based Knowledge Tracing (QKT)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Uses knowledge tracing to track student knowledge and predict learning progress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Requires </a:t>
                      </a:r>
                      <a:r>
                        <a:rPr lang="en-IN" sz="1600" b="1" dirty="0">
                          <a:latin typeface="Times New Roman" panose="02020603050405020304" pitchFamily="18" charset="0"/>
                          <a:cs typeface="Times New Roman" panose="02020603050405020304" pitchFamily="18" charset="0"/>
                        </a:rPr>
                        <a:t>large datasets and high computational resources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Uses a </a:t>
                      </a:r>
                      <a:r>
                        <a:rPr lang="en-IN" sz="1600" b="1" dirty="0">
                          <a:latin typeface="Times New Roman" panose="02020603050405020304" pitchFamily="18" charset="0"/>
                          <a:cs typeface="Times New Roman" panose="02020603050405020304" pitchFamily="18" charset="0"/>
                        </a:rPr>
                        <a:t>lightweight rule-based approach</a:t>
                      </a:r>
                      <a:r>
                        <a:rPr lang="en-IN" sz="1600" dirty="0">
                          <a:latin typeface="Times New Roman" panose="02020603050405020304" pitchFamily="18" charset="0"/>
                          <a:cs typeface="Times New Roman" panose="02020603050405020304" pitchFamily="18" charset="0"/>
                        </a:rPr>
                        <a:t> suitable for small-scale applications</a:t>
                      </a:r>
                    </a:p>
                  </a:txBody>
                  <a:tcPr anchor="ctr"/>
                </a:tc>
                <a:extLst>
                  <a:ext uri="{0D108BD9-81ED-4DB2-BD59-A6C34878D82A}">
                    <a16:rowId xmlns:a16="http://schemas.microsoft.com/office/drawing/2014/main" val="4259804689"/>
                  </a:ext>
                </a:extLst>
              </a:tr>
              <a:tr h="1153973">
                <a:tc>
                  <a:txBody>
                    <a:bodyPr/>
                    <a:lstStyle/>
                    <a:p>
                      <a:pPr>
                        <a:buNone/>
                      </a:pPr>
                      <a:r>
                        <a:rPr lang="en-IN" sz="1600" b="1">
                          <a:latin typeface="Times New Roman" panose="02020603050405020304" pitchFamily="18" charset="0"/>
                          <a:cs typeface="Times New Roman" panose="02020603050405020304" pitchFamily="18" charset="0"/>
                        </a:rPr>
                        <a:t>2025</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Ramadhan et al. – KuisQ Adaptive Real-Time Quiz Platform</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Real-time adaptive quizzes, performance-based question adaptation, student engagement tracking</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Limited </a:t>
                      </a:r>
                      <a:r>
                        <a:rPr lang="en-IN" sz="1600" b="1" dirty="0">
                          <a:latin typeface="Times New Roman" panose="02020603050405020304" pitchFamily="18" charset="0"/>
                          <a:cs typeface="Times New Roman" panose="02020603050405020304" pitchFamily="18" charset="0"/>
                        </a:rPr>
                        <a:t>structured topic-wise performance reporting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Provides </a:t>
                      </a:r>
                      <a:r>
                        <a:rPr lang="en-IN" sz="1600" b="1" dirty="0">
                          <a:latin typeface="Times New Roman" panose="02020603050405020304" pitchFamily="18" charset="0"/>
                          <a:cs typeface="Times New Roman" panose="02020603050405020304" pitchFamily="18" charset="0"/>
                        </a:rPr>
                        <a:t>topic-wise accuracy, weak-area detection, and detailed performance reporting</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9326526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362FD-A208-E342-CC22-06458216A141}"/>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Tools Technologies</a:t>
            </a:r>
          </a:p>
        </p:txBody>
      </p:sp>
      <p:sp>
        <p:nvSpPr>
          <p:cNvPr id="3" name="Slide Number Placeholder 2">
            <a:extLst>
              <a:ext uri="{FF2B5EF4-FFF2-40B4-BE49-F238E27FC236}">
                <a16:creationId xmlns:a16="http://schemas.microsoft.com/office/drawing/2014/main" id="{81B9339C-04E3-5410-C9CF-72A5ED0CB63B}"/>
              </a:ext>
            </a:extLst>
          </p:cNvPr>
          <p:cNvSpPr>
            <a:spLocks noGrp="1"/>
          </p:cNvSpPr>
          <p:nvPr>
            <p:ph type="sldNum" sz="quarter" idx="12"/>
          </p:nvPr>
        </p:nvSpPr>
        <p:spPr/>
        <p:txBody>
          <a:bodyPr/>
          <a:lstStyle/>
          <a:p>
            <a:fld id="{C1FF6DA9-008F-8B48-92A6-B652298478BF}" type="slidenum">
              <a:rPr lang="en-US" smtClean="0"/>
              <a:t>7</a:t>
            </a:fld>
            <a:endParaRPr lang="en-US"/>
          </a:p>
        </p:txBody>
      </p:sp>
      <p:graphicFrame>
        <p:nvGraphicFramePr>
          <p:cNvPr id="4" name="Table 3">
            <a:extLst>
              <a:ext uri="{FF2B5EF4-FFF2-40B4-BE49-F238E27FC236}">
                <a16:creationId xmlns:a16="http://schemas.microsoft.com/office/drawing/2014/main" id="{499D022E-CE3B-DFBC-8325-955E025896F9}"/>
              </a:ext>
            </a:extLst>
          </p:cNvPr>
          <p:cNvGraphicFramePr>
            <a:graphicFrameLocks noGrp="1"/>
          </p:cNvGraphicFramePr>
          <p:nvPr>
            <p:extLst>
              <p:ext uri="{D42A27DB-BD31-4B8C-83A1-F6EECF244321}">
                <p14:modId xmlns:p14="http://schemas.microsoft.com/office/powerpoint/2010/main" val="2659003733"/>
              </p:ext>
            </p:extLst>
          </p:nvPr>
        </p:nvGraphicFramePr>
        <p:xfrm>
          <a:off x="609600" y="2057401"/>
          <a:ext cx="10972800" cy="4298949"/>
        </p:xfrm>
        <a:graphic>
          <a:graphicData uri="http://schemas.openxmlformats.org/drawingml/2006/table">
            <a:tbl>
              <a:tblPr>
                <a:tableStyleId>{5C22544A-7EE6-4342-B048-85BDC9FD1C3A}</a:tableStyleId>
              </a:tblPr>
              <a:tblGrid>
                <a:gridCol w="5486400">
                  <a:extLst>
                    <a:ext uri="{9D8B030D-6E8A-4147-A177-3AD203B41FA5}">
                      <a16:colId xmlns:a16="http://schemas.microsoft.com/office/drawing/2014/main" val="2028319213"/>
                    </a:ext>
                  </a:extLst>
                </a:gridCol>
                <a:gridCol w="5486400">
                  <a:extLst>
                    <a:ext uri="{9D8B030D-6E8A-4147-A177-3AD203B41FA5}">
                      <a16:colId xmlns:a16="http://schemas.microsoft.com/office/drawing/2014/main" val="865942712"/>
                    </a:ext>
                  </a:extLst>
                </a:gridCol>
              </a:tblGrid>
              <a:tr h="477661">
                <a:tc>
                  <a:txBody>
                    <a:bodyPr/>
                    <a:lstStyle/>
                    <a:p>
                      <a:pPr>
                        <a:buNone/>
                      </a:pPr>
                      <a:r>
                        <a:rPr lang="en-IN" sz="2400" dirty="0">
                          <a:latin typeface="Times New Roman" panose="02020603050405020304" pitchFamily="18" charset="0"/>
                          <a:cs typeface="Times New Roman" panose="02020603050405020304" pitchFamily="18" charset="0"/>
                        </a:rPr>
                        <a:t>Category</a:t>
                      </a:r>
                    </a:p>
                  </a:txBody>
                  <a:tcPr anchor="ctr"/>
                </a:tc>
                <a:tc>
                  <a:txBody>
                    <a:bodyPr/>
                    <a:lstStyle/>
                    <a:p>
                      <a:pPr>
                        <a:buNone/>
                      </a:pPr>
                      <a:r>
                        <a:rPr lang="en-IN" sz="2400">
                          <a:latin typeface="Times New Roman" panose="02020603050405020304" pitchFamily="18" charset="0"/>
                          <a:cs typeface="Times New Roman" panose="02020603050405020304" pitchFamily="18" charset="0"/>
                        </a:rPr>
                        <a:t>Technology</a:t>
                      </a:r>
                    </a:p>
                  </a:txBody>
                  <a:tcPr anchor="ctr"/>
                </a:tc>
                <a:extLst>
                  <a:ext uri="{0D108BD9-81ED-4DB2-BD59-A6C34878D82A}">
                    <a16:rowId xmlns:a16="http://schemas.microsoft.com/office/drawing/2014/main" val="3638271617"/>
                  </a:ext>
                </a:extLst>
              </a:tr>
              <a:tr h="477661">
                <a:tc>
                  <a:txBody>
                    <a:bodyPr/>
                    <a:lstStyle/>
                    <a:p>
                      <a:pPr>
                        <a:buNone/>
                      </a:pPr>
                      <a:r>
                        <a:rPr lang="en-IN" sz="2400">
                          <a:latin typeface="Times New Roman" panose="02020603050405020304" pitchFamily="18" charset="0"/>
                          <a:cs typeface="Times New Roman" panose="02020603050405020304" pitchFamily="18" charset="0"/>
                        </a:rPr>
                        <a:t>Programming Language</a:t>
                      </a:r>
                    </a:p>
                  </a:txBody>
                  <a:tcPr anchor="ctr"/>
                </a:tc>
                <a:tc>
                  <a:txBody>
                    <a:bodyPr/>
                    <a:lstStyle/>
                    <a:p>
                      <a:pPr>
                        <a:buNone/>
                      </a:pPr>
                      <a:r>
                        <a:rPr lang="en-IN" sz="2400">
                          <a:latin typeface="Times New Roman" panose="02020603050405020304" pitchFamily="18" charset="0"/>
                          <a:cs typeface="Times New Roman" panose="02020603050405020304" pitchFamily="18" charset="0"/>
                        </a:rPr>
                        <a:t>Java</a:t>
                      </a:r>
                    </a:p>
                  </a:txBody>
                  <a:tcPr anchor="ctr"/>
                </a:tc>
                <a:extLst>
                  <a:ext uri="{0D108BD9-81ED-4DB2-BD59-A6C34878D82A}">
                    <a16:rowId xmlns:a16="http://schemas.microsoft.com/office/drawing/2014/main" val="3361131176"/>
                  </a:ext>
                </a:extLst>
              </a:tr>
              <a:tr h="477661">
                <a:tc>
                  <a:txBody>
                    <a:bodyPr/>
                    <a:lstStyle/>
                    <a:p>
                      <a:pPr>
                        <a:buNone/>
                      </a:pPr>
                      <a:r>
                        <a:rPr lang="en-IN" sz="2400" dirty="0">
                          <a:latin typeface="Times New Roman" panose="02020603050405020304" pitchFamily="18" charset="0"/>
                          <a:cs typeface="Times New Roman" panose="02020603050405020304" pitchFamily="18" charset="0"/>
                        </a:rPr>
                        <a:t>Version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JDK 17+</a:t>
                      </a:r>
                    </a:p>
                  </a:txBody>
                  <a:tcPr anchor="ctr"/>
                </a:tc>
                <a:extLst>
                  <a:ext uri="{0D108BD9-81ED-4DB2-BD59-A6C34878D82A}">
                    <a16:rowId xmlns:a16="http://schemas.microsoft.com/office/drawing/2014/main" val="1203643528"/>
                  </a:ext>
                </a:extLst>
              </a:tr>
              <a:tr h="477661">
                <a:tc>
                  <a:txBody>
                    <a:bodyPr/>
                    <a:lstStyle/>
                    <a:p>
                      <a:pPr>
                        <a:buNone/>
                      </a:pPr>
                      <a:r>
                        <a:rPr lang="en-IN" sz="2400">
                          <a:latin typeface="Times New Roman" panose="02020603050405020304" pitchFamily="18" charset="0"/>
                          <a:cs typeface="Times New Roman" panose="02020603050405020304" pitchFamily="18" charset="0"/>
                        </a:rPr>
                        <a:t>User Interface</a:t>
                      </a:r>
                    </a:p>
                  </a:txBody>
                  <a:tcPr anchor="ctr"/>
                </a:tc>
                <a:tc>
                  <a:txBody>
                    <a:bodyPr/>
                    <a:lstStyle/>
                    <a:p>
                      <a:pPr>
                        <a:buNone/>
                      </a:pPr>
                      <a:r>
                        <a:rPr lang="en-IN" sz="2400">
                          <a:latin typeface="Times New Roman" panose="02020603050405020304" pitchFamily="18" charset="0"/>
                          <a:cs typeface="Times New Roman" panose="02020603050405020304" pitchFamily="18" charset="0"/>
                        </a:rPr>
                        <a:t>Java Swing</a:t>
                      </a:r>
                    </a:p>
                  </a:txBody>
                  <a:tcPr anchor="ctr"/>
                </a:tc>
                <a:extLst>
                  <a:ext uri="{0D108BD9-81ED-4DB2-BD59-A6C34878D82A}">
                    <a16:rowId xmlns:a16="http://schemas.microsoft.com/office/drawing/2014/main" val="331047672"/>
                  </a:ext>
                </a:extLst>
              </a:tr>
              <a:tr h="477661">
                <a:tc>
                  <a:txBody>
                    <a:bodyPr/>
                    <a:lstStyle/>
                    <a:p>
                      <a:pPr>
                        <a:buNone/>
                      </a:pPr>
                      <a:r>
                        <a:rPr lang="en-IN" sz="2400" dirty="0">
                          <a:latin typeface="Times New Roman" panose="02020603050405020304" pitchFamily="18" charset="0"/>
                          <a:cs typeface="Times New Roman" panose="02020603050405020304" pitchFamily="18" charset="0"/>
                        </a:rPr>
                        <a:t>Database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SQLite</a:t>
                      </a:r>
                    </a:p>
                  </a:txBody>
                  <a:tcPr anchor="ctr"/>
                </a:tc>
                <a:extLst>
                  <a:ext uri="{0D108BD9-81ED-4DB2-BD59-A6C34878D82A}">
                    <a16:rowId xmlns:a16="http://schemas.microsoft.com/office/drawing/2014/main" val="3208836613"/>
                  </a:ext>
                </a:extLst>
              </a:tr>
              <a:tr h="477661">
                <a:tc>
                  <a:txBody>
                    <a:bodyPr/>
                    <a:lstStyle/>
                    <a:p>
                      <a:pPr>
                        <a:buNone/>
                      </a:pPr>
                      <a:r>
                        <a:rPr lang="en-IN" sz="2400">
                          <a:latin typeface="Times New Roman" panose="02020603050405020304" pitchFamily="18" charset="0"/>
                          <a:cs typeface="Times New Roman" panose="02020603050405020304" pitchFamily="18" charset="0"/>
                        </a:rPr>
                        <a:t>Database Connectivity</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JDBC</a:t>
                      </a:r>
                    </a:p>
                  </a:txBody>
                  <a:tcPr anchor="ctr"/>
                </a:tc>
                <a:extLst>
                  <a:ext uri="{0D108BD9-81ED-4DB2-BD59-A6C34878D82A}">
                    <a16:rowId xmlns:a16="http://schemas.microsoft.com/office/drawing/2014/main" val="162262034"/>
                  </a:ext>
                </a:extLst>
              </a:tr>
              <a:tr h="477661">
                <a:tc>
                  <a:txBody>
                    <a:bodyPr/>
                    <a:lstStyle/>
                    <a:p>
                      <a:pPr>
                        <a:buNone/>
                      </a:pPr>
                      <a:r>
                        <a:rPr lang="en-IN" sz="2400">
                          <a:latin typeface="Times New Roman" panose="02020603050405020304" pitchFamily="18" charset="0"/>
                          <a:cs typeface="Times New Roman" panose="02020603050405020304" pitchFamily="18" charset="0"/>
                        </a:rPr>
                        <a:t>Data Import</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CSV</a:t>
                      </a:r>
                    </a:p>
                  </a:txBody>
                  <a:tcPr anchor="ctr"/>
                </a:tc>
                <a:extLst>
                  <a:ext uri="{0D108BD9-81ED-4DB2-BD59-A6C34878D82A}">
                    <a16:rowId xmlns:a16="http://schemas.microsoft.com/office/drawing/2014/main" val="1110768989"/>
                  </a:ext>
                </a:extLst>
              </a:tr>
              <a:tr h="477661">
                <a:tc>
                  <a:txBody>
                    <a:bodyPr/>
                    <a:lstStyle/>
                    <a:p>
                      <a:pPr>
                        <a:buNone/>
                      </a:pPr>
                      <a:r>
                        <a:rPr lang="en-IN" sz="2400">
                          <a:latin typeface="Times New Roman" panose="02020603050405020304" pitchFamily="18" charset="0"/>
                          <a:cs typeface="Times New Roman" panose="02020603050405020304" pitchFamily="18" charset="0"/>
                        </a:rPr>
                        <a:t>Adaptation Technique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Rule-Based</a:t>
                      </a:r>
                    </a:p>
                  </a:txBody>
                  <a:tcPr anchor="ctr"/>
                </a:tc>
                <a:extLst>
                  <a:ext uri="{0D108BD9-81ED-4DB2-BD59-A6C34878D82A}">
                    <a16:rowId xmlns:a16="http://schemas.microsoft.com/office/drawing/2014/main" val="627996538"/>
                  </a:ext>
                </a:extLst>
              </a:tr>
              <a:tr h="477661">
                <a:tc>
                  <a:txBody>
                    <a:bodyPr/>
                    <a:lstStyle/>
                    <a:p>
                      <a:pPr>
                        <a:buNone/>
                      </a:pPr>
                      <a:r>
                        <a:rPr lang="en-IN" sz="2400">
                          <a:latin typeface="Times New Roman" panose="02020603050405020304" pitchFamily="18" charset="0"/>
                          <a:cs typeface="Times New Roman" panose="02020603050405020304" pitchFamily="18" charset="0"/>
                        </a:rPr>
                        <a:t>Application Type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Desktop Application</a:t>
                      </a:r>
                    </a:p>
                  </a:txBody>
                  <a:tcPr anchor="ctr"/>
                </a:tc>
                <a:extLst>
                  <a:ext uri="{0D108BD9-81ED-4DB2-BD59-A6C34878D82A}">
                    <a16:rowId xmlns:a16="http://schemas.microsoft.com/office/drawing/2014/main" val="948738394"/>
                  </a:ext>
                </a:extLst>
              </a:tr>
            </a:tbl>
          </a:graphicData>
        </a:graphic>
      </p:graphicFrame>
    </p:spTree>
    <p:extLst>
      <p:ext uri="{BB962C8B-B14F-4D97-AF65-F5344CB8AC3E}">
        <p14:creationId xmlns:p14="http://schemas.microsoft.com/office/powerpoint/2010/main" val="3304863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15DE-A63C-E89C-4477-EE980FD965BD}"/>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1- </a:t>
            </a:r>
            <a:r>
              <a:rPr lang="en-IN" sz="4000" dirty="0">
                <a:latin typeface="Times New Roman" panose="02020603050405020304" pitchFamily="18" charset="0"/>
                <a:cs typeface="Times New Roman" panose="02020603050405020304" pitchFamily="18" charset="0"/>
              </a:rPr>
              <a:t>Question Bank &amp; Data Management</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B9A0603-3197-9EE1-2616-75A1FE1A7290}"/>
              </a:ext>
            </a:extLst>
          </p:cNvPr>
          <p:cNvSpPr>
            <a:spLocks noGrp="1"/>
          </p:cNvSpPr>
          <p:nvPr>
            <p:ph sz="half" idx="1"/>
          </p:nvPr>
        </p:nvSpPr>
        <p:spPr>
          <a:xfrm>
            <a:off x="609600" y="1234441"/>
            <a:ext cx="10875264" cy="4891726"/>
          </a:xfrm>
        </p:spPr>
        <p:txBody>
          <a:bodyPr>
            <a:normAutofit/>
          </a:bodyPr>
          <a:lstStyle/>
          <a:p>
            <a:pPr lvl="0"/>
            <a:r>
              <a:rPr lang="en-IN" dirty="0">
                <a:latin typeface="Times New Roman" panose="02020603050405020304" pitchFamily="18" charset="0"/>
                <a:cs typeface="Times New Roman" panose="02020603050405020304" pitchFamily="18" charset="0"/>
              </a:rPr>
              <a:t>Manages and stores all quiz questions. </a:t>
            </a:r>
          </a:p>
          <a:p>
            <a:pPr lvl="0"/>
            <a:r>
              <a:rPr lang="en-IN" dirty="0">
                <a:latin typeface="Times New Roman" panose="02020603050405020304" pitchFamily="18" charset="0"/>
                <a:cs typeface="Times New Roman" panose="02020603050405020304" pitchFamily="18" charset="0"/>
              </a:rPr>
              <a:t>Uses an SQLite database for question storage. </a:t>
            </a:r>
          </a:p>
          <a:p>
            <a:pPr lvl="0"/>
            <a:r>
              <a:rPr lang="en-IN" dirty="0">
                <a:latin typeface="Times New Roman" panose="02020603050405020304" pitchFamily="18" charset="0"/>
                <a:cs typeface="Times New Roman" panose="02020603050405020304" pitchFamily="18" charset="0"/>
              </a:rPr>
              <a:t>Stores topic, difficulty, question, options, and correct answer. </a:t>
            </a:r>
          </a:p>
          <a:p>
            <a:pPr lvl="0"/>
            <a:r>
              <a:rPr lang="en-IN" dirty="0">
                <a:latin typeface="Times New Roman" panose="02020603050405020304" pitchFamily="18" charset="0"/>
                <a:cs typeface="Times New Roman" panose="02020603050405020304" pitchFamily="18" charset="0"/>
              </a:rPr>
              <a:t>Automatically initializes the database during the first run. </a:t>
            </a:r>
          </a:p>
          <a:p>
            <a:pPr lvl="0"/>
            <a:r>
              <a:rPr lang="en-IN" dirty="0">
                <a:latin typeface="Times New Roman" panose="02020603050405020304" pitchFamily="18" charset="0"/>
                <a:cs typeface="Times New Roman" panose="02020603050405020304" pitchFamily="18" charset="0"/>
              </a:rPr>
              <a:t>Provides built-in questions across multiple topics. </a:t>
            </a:r>
          </a:p>
          <a:p>
            <a:pPr lvl="0"/>
            <a:r>
              <a:rPr lang="en-IN" dirty="0">
                <a:latin typeface="Times New Roman" panose="02020603050405020304" pitchFamily="18" charset="0"/>
                <a:cs typeface="Times New Roman" panose="02020603050405020304" pitchFamily="18" charset="0"/>
              </a:rPr>
              <a:t>Supports bulk question loading through a CSV file. </a:t>
            </a:r>
          </a:p>
          <a:p>
            <a:pPr lvl="0"/>
            <a:r>
              <a:rPr lang="en-IN" dirty="0">
                <a:latin typeface="Times New Roman" panose="02020603050405020304" pitchFamily="18" charset="0"/>
                <a:cs typeface="Times New Roman" panose="02020603050405020304" pitchFamily="18" charset="0"/>
              </a:rPr>
              <a:t>Allows users to add questions through the application. </a:t>
            </a:r>
          </a:p>
          <a:p>
            <a:pPr lvl="0"/>
            <a:r>
              <a:rPr lang="en-IN" dirty="0">
                <a:latin typeface="Times New Roman" panose="02020603050405020304" pitchFamily="18" charset="0"/>
                <a:cs typeface="Times New Roman" panose="02020603050405020304" pitchFamily="18" charset="0"/>
              </a:rPr>
              <a:t>Retrieves questions based on topic or question ID when required. </a:t>
            </a:r>
          </a:p>
          <a:p>
            <a:pPr marL="0" indent="0">
              <a:buNone/>
            </a:pPr>
            <a:endParaRPr lang="en-IN" dirty="0"/>
          </a:p>
        </p:txBody>
      </p:sp>
    </p:spTree>
    <p:extLst>
      <p:ext uri="{BB962C8B-B14F-4D97-AF65-F5344CB8AC3E}">
        <p14:creationId xmlns:p14="http://schemas.microsoft.com/office/powerpoint/2010/main" val="687260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172C5-84BB-79A1-B030-26DC965B5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A5672-CC12-D035-E5F3-D5A6EB1D0C6E}"/>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1- </a:t>
            </a:r>
            <a:r>
              <a:rPr lang="en-IN" sz="4000" dirty="0">
                <a:latin typeface="Times New Roman" panose="02020603050405020304" pitchFamily="18" charset="0"/>
                <a:cs typeface="Times New Roman" panose="02020603050405020304" pitchFamily="18" charset="0"/>
              </a:rPr>
              <a:t>Question Bank &amp; Data Management</a:t>
            </a:r>
            <a:endParaRPr lang="en-IN" sz="4000" b="1" dirty="0">
              <a:latin typeface="Times New Roman" panose="02020603050405020304" pitchFamily="18" charset="0"/>
              <a:cs typeface="Times New Roman" panose="02020603050405020304" pitchFamily="18" charset="0"/>
            </a:endParaRPr>
          </a:p>
        </p:txBody>
      </p:sp>
      <p:pic>
        <p:nvPicPr>
          <p:cNvPr id="7" name="Content Placeholder 6" descr="A Java code snippet that inserts a question into a database, using prepared statements to handle SQL insertion.&#10;&#10;AI-generated content may be incorrect.">
            <a:extLst>
              <a:ext uri="{FF2B5EF4-FFF2-40B4-BE49-F238E27FC236}">
                <a16:creationId xmlns:a16="http://schemas.microsoft.com/office/drawing/2014/main" id="{CFFDBAC2-8317-0E7C-183B-E5A1094481F7}"/>
              </a:ext>
            </a:extLst>
          </p:cNvPr>
          <p:cNvPicPr>
            <a:picLocks noGrp="1" noChangeAspect="1"/>
          </p:cNvPicPr>
          <p:nvPr>
            <p:ph sz="half" idx="1"/>
          </p:nvPr>
        </p:nvPicPr>
        <p:blipFill>
          <a:blip r:embed="rId2"/>
          <a:stretch>
            <a:fillRect/>
          </a:stretch>
        </p:blipFill>
        <p:spPr>
          <a:xfrm>
            <a:off x="609599" y="1644664"/>
            <a:ext cx="6528397" cy="4434018"/>
          </a:xfrm>
          <a:prstGeom prst="rect">
            <a:avLst/>
          </a:prstGeom>
        </p:spPr>
      </p:pic>
      <p:pic>
        <p:nvPicPr>
          <p:cNvPr id="9" name="Picture 8" descr="This image is a user interface for an online quiz or exam, featuring a question on object-oriented programming concepts, with options for encapsulation, polymorphism, abstraction, and inheritance, and the correct answer marked as Option B.&#10;&#10;AI-generated content may be incorrect.">
            <a:extLst>
              <a:ext uri="{FF2B5EF4-FFF2-40B4-BE49-F238E27FC236}">
                <a16:creationId xmlns:a16="http://schemas.microsoft.com/office/drawing/2014/main" id="{40764BDE-54BF-B26C-050B-FA2628B67383}"/>
              </a:ext>
            </a:extLst>
          </p:cNvPr>
          <p:cNvPicPr>
            <a:picLocks noChangeAspect="1"/>
          </p:cNvPicPr>
          <p:nvPr/>
        </p:nvPicPr>
        <p:blipFill>
          <a:blip r:embed="rId3"/>
          <a:stretch>
            <a:fillRect/>
          </a:stretch>
        </p:blipFill>
        <p:spPr>
          <a:xfrm>
            <a:off x="7730836" y="1644664"/>
            <a:ext cx="3851565" cy="4673840"/>
          </a:xfrm>
          <a:prstGeom prst="rect">
            <a:avLst/>
          </a:prstGeom>
        </p:spPr>
      </p:pic>
    </p:spTree>
    <p:extLst>
      <p:ext uri="{BB962C8B-B14F-4D97-AF65-F5344CB8AC3E}">
        <p14:creationId xmlns:p14="http://schemas.microsoft.com/office/powerpoint/2010/main" val="183841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8BDA-59EB-C2E1-FDC4-359E2C097CFA}"/>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2- </a:t>
            </a:r>
            <a:r>
              <a:rPr lang="en-IN" sz="4000" dirty="0">
                <a:latin typeface="Times New Roman" panose="02020603050405020304" pitchFamily="18" charset="0"/>
                <a:cs typeface="Times New Roman" panose="02020603050405020304" pitchFamily="18" charset="0"/>
              </a:rPr>
              <a:t>Quiz Delivery &amp; Response Capture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E48606-35C6-1D7C-B963-B03800225ACF}"/>
              </a:ext>
            </a:extLst>
          </p:cNvPr>
          <p:cNvSpPr>
            <a:spLocks noGrp="1"/>
          </p:cNvSpPr>
          <p:nvPr>
            <p:ph sz="half" idx="1"/>
          </p:nvPr>
        </p:nvSpPr>
        <p:spPr>
          <a:xfrm>
            <a:off x="609600" y="1600203"/>
            <a:ext cx="10972800" cy="4525963"/>
          </a:xfrm>
        </p:spPr>
        <p:txBody>
          <a:bodyPr>
            <a:normAutofit/>
          </a:bodyPr>
          <a:lstStyle/>
          <a:p>
            <a:pPr lvl="0"/>
            <a:r>
              <a:rPr lang="en-IN" dirty="0">
                <a:latin typeface="Times New Roman" panose="02020603050405020304" pitchFamily="18" charset="0"/>
                <a:cs typeface="Times New Roman" panose="02020603050405020304" pitchFamily="18" charset="0"/>
              </a:rPr>
              <a:t>Creates a new quiz session whenever a quiz begins. </a:t>
            </a:r>
          </a:p>
          <a:p>
            <a:pPr lvl="0"/>
            <a:r>
              <a:rPr lang="en-IN" dirty="0">
                <a:latin typeface="Times New Roman" panose="02020603050405020304" pitchFamily="18" charset="0"/>
                <a:cs typeface="Times New Roman" panose="02020603050405020304" pitchFamily="18" charset="0"/>
              </a:rPr>
              <a:t>Records whether the quiz is Random or Adaptive. </a:t>
            </a:r>
          </a:p>
          <a:p>
            <a:pPr lvl="0"/>
            <a:r>
              <a:rPr lang="en-IN" dirty="0">
                <a:latin typeface="Times New Roman" panose="02020603050405020304" pitchFamily="18" charset="0"/>
                <a:cs typeface="Times New Roman" panose="02020603050405020304" pitchFamily="18" charset="0"/>
              </a:rPr>
              <a:t>Displays one question at a time through the Swing interface. </a:t>
            </a:r>
          </a:p>
          <a:p>
            <a:pPr lvl="0"/>
            <a:r>
              <a:rPr lang="en-IN" dirty="0">
                <a:latin typeface="Times New Roman" panose="02020603050405020304" pitchFamily="18" charset="0"/>
                <a:cs typeface="Times New Roman" panose="02020603050405020304" pitchFamily="18" charset="0"/>
              </a:rPr>
              <a:t>Provides four answer options using radio buttons. </a:t>
            </a:r>
          </a:p>
          <a:p>
            <a:pPr lvl="0"/>
            <a:r>
              <a:rPr lang="en-IN" dirty="0">
                <a:latin typeface="Times New Roman" panose="02020603050405020304" pitchFamily="18" charset="0"/>
                <a:cs typeface="Times New Roman" panose="02020603050405020304" pitchFamily="18" charset="0"/>
              </a:rPr>
              <a:t>Shows the current progress of the quiz. </a:t>
            </a:r>
          </a:p>
          <a:p>
            <a:pPr lvl="0"/>
            <a:r>
              <a:rPr lang="en-IN" dirty="0">
                <a:latin typeface="Times New Roman" panose="02020603050405020304" pitchFamily="18" charset="0"/>
                <a:cs typeface="Times New Roman" panose="02020603050405020304" pitchFamily="18" charset="0"/>
              </a:rPr>
              <a:t>Checks whether the student has selected an answer. </a:t>
            </a:r>
          </a:p>
          <a:p>
            <a:pPr lvl="0"/>
            <a:r>
              <a:rPr lang="en-IN" dirty="0">
                <a:latin typeface="Times New Roman" panose="02020603050405020304" pitchFamily="18" charset="0"/>
                <a:cs typeface="Times New Roman" panose="02020603050405020304" pitchFamily="18" charset="0"/>
              </a:rPr>
              <a:t>Compares the selected answer with the correct answer. </a:t>
            </a:r>
          </a:p>
          <a:p>
            <a:pPr lvl="0"/>
            <a:r>
              <a:rPr lang="en-IN" dirty="0">
                <a:latin typeface="Times New Roman" panose="02020603050405020304" pitchFamily="18" charset="0"/>
                <a:cs typeface="Times New Roman" panose="02020603050405020304" pitchFamily="18" charset="0"/>
              </a:rPr>
              <a:t>Stores each student response in the database for further analysis.</a:t>
            </a:r>
          </a:p>
          <a:p>
            <a:pPr marL="0" indent="0">
              <a:buNone/>
            </a:pPr>
            <a:endParaRPr lang="en-IN" dirty="0"/>
          </a:p>
        </p:txBody>
      </p:sp>
    </p:spTree>
    <p:extLst>
      <p:ext uri="{BB962C8B-B14F-4D97-AF65-F5344CB8AC3E}">
        <p14:creationId xmlns:p14="http://schemas.microsoft.com/office/powerpoint/2010/main" val="3448405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B739-8A97-B0D2-A49E-4706D7A2E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22EE5-C597-F7A4-3576-1DD9D1CD6804}"/>
              </a:ext>
            </a:extLst>
          </p:cNvPr>
          <p:cNvSpPr>
            <a:spLocks noGrp="1"/>
          </p:cNvSpPr>
          <p:nvPr>
            <p:ph type="title"/>
          </p:nvPr>
        </p:nvSpPr>
        <p:spPr>
          <a:xfrm>
            <a:off x="0" y="0"/>
            <a:ext cx="12192000" cy="1143000"/>
          </a:xfrm>
        </p:spPr>
        <p:txBody>
          <a:bodyPr>
            <a:normAutofit/>
          </a:bodyPr>
          <a:lstStyle/>
          <a:p>
            <a:r>
              <a:rPr lang="en-IN" sz="3600" b="1" dirty="0">
                <a:latin typeface="Times New Roman" panose="02020603050405020304" pitchFamily="18" charset="0"/>
                <a:cs typeface="Times New Roman" panose="02020603050405020304" pitchFamily="18" charset="0"/>
              </a:rPr>
              <a:t>Module 2</a:t>
            </a:r>
            <a:r>
              <a:rPr lang="en-IN" sz="3600" b="1" dirty="0"/>
              <a:t>- </a:t>
            </a:r>
            <a:r>
              <a:rPr lang="en-IN" sz="3600" b="1" dirty="0">
                <a:latin typeface="Times New Roman" panose="02020603050405020304" pitchFamily="18" charset="0"/>
                <a:cs typeface="Times New Roman" panose="02020603050405020304" pitchFamily="18" charset="0"/>
              </a:rPr>
              <a:t>Implementation</a:t>
            </a:r>
          </a:p>
        </p:txBody>
      </p:sp>
      <p:pic>
        <p:nvPicPr>
          <p:cNvPr id="10" name="Content Placeholder 9" descr="The provided text is a snippet of a Java method and associated method calls, which appear to be part of a quiz application's backend logic.&#10;&#10;AI-generated content may be incorrect.">
            <a:extLst>
              <a:ext uri="{FF2B5EF4-FFF2-40B4-BE49-F238E27FC236}">
                <a16:creationId xmlns:a16="http://schemas.microsoft.com/office/drawing/2014/main" id="{7FD1C102-8805-31EE-14AB-AFB5A122A5E6}"/>
              </a:ext>
            </a:extLst>
          </p:cNvPr>
          <p:cNvPicPr>
            <a:picLocks noGrp="1" noChangeAspect="1"/>
          </p:cNvPicPr>
          <p:nvPr>
            <p:ph sz="half" idx="1"/>
          </p:nvPr>
        </p:nvPicPr>
        <p:blipFill>
          <a:blip r:embed="rId2"/>
          <a:stretch>
            <a:fillRect/>
          </a:stretch>
        </p:blipFill>
        <p:spPr>
          <a:xfrm>
            <a:off x="571500" y="1938528"/>
            <a:ext cx="5988598" cy="4192524"/>
          </a:xfrm>
          <a:prstGeom prst="rect">
            <a:avLst/>
          </a:prstGeom>
        </p:spPr>
      </p:pic>
      <p:pic>
        <p:nvPicPr>
          <p:cNvPr id="12" name="Picture 11" descr="The image shows a user interface with a quiz question asking which method serves as the entry point for a Java program, offering the options 'start()', 'run()', 'main()', and 'init()'.&#10;&#10;AI-generated content may be incorrect.">
            <a:extLst>
              <a:ext uri="{FF2B5EF4-FFF2-40B4-BE49-F238E27FC236}">
                <a16:creationId xmlns:a16="http://schemas.microsoft.com/office/drawing/2014/main" id="{0680235F-8FB0-EADC-20DF-AD7D910E50CA}"/>
              </a:ext>
            </a:extLst>
          </p:cNvPr>
          <p:cNvPicPr>
            <a:picLocks noChangeAspect="1"/>
          </p:cNvPicPr>
          <p:nvPr/>
        </p:nvPicPr>
        <p:blipFill>
          <a:blip r:embed="rId3"/>
          <a:stretch>
            <a:fillRect/>
          </a:stretch>
        </p:blipFill>
        <p:spPr>
          <a:xfrm>
            <a:off x="6747949" y="1938528"/>
            <a:ext cx="5201596" cy="4192524"/>
          </a:xfrm>
          <a:prstGeom prst="rect">
            <a:avLst/>
          </a:prstGeom>
        </p:spPr>
      </p:pic>
    </p:spTree>
    <p:extLst>
      <p:ext uri="{BB962C8B-B14F-4D97-AF65-F5344CB8AC3E}">
        <p14:creationId xmlns:p14="http://schemas.microsoft.com/office/powerpoint/2010/main" val="2694667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8E085-F6F9-DEF5-8320-4C138F7D2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8F85B-D14D-5397-9A5D-6DBA65847280}"/>
              </a:ext>
            </a:extLst>
          </p:cNvPr>
          <p:cNvSpPr>
            <a:spLocks noGrp="1"/>
          </p:cNvSpPr>
          <p:nvPr>
            <p:ph type="title"/>
          </p:nvPr>
        </p:nvSpPr>
        <p:spPr>
          <a:xfrm>
            <a:off x="0" y="136522"/>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3- </a:t>
            </a:r>
            <a:r>
              <a:rPr lang="en-IN" sz="4000" dirty="0">
                <a:latin typeface="Times New Roman" panose="02020603050405020304" pitchFamily="18" charset="0"/>
                <a:cs typeface="Times New Roman" panose="02020603050405020304" pitchFamily="18" charset="0"/>
              </a:rPr>
              <a:t>Performance Scoring &amp; Weak-Area Detection</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176214D-D004-1C8F-11AB-763FB868B470}"/>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7" name="Content Placeholder 6">
            <a:extLst>
              <a:ext uri="{FF2B5EF4-FFF2-40B4-BE49-F238E27FC236}">
                <a16:creationId xmlns:a16="http://schemas.microsoft.com/office/drawing/2014/main" id="{EBDCEB95-40DD-AA26-8016-A9FD9F0A2023}"/>
              </a:ext>
            </a:extLst>
          </p:cNvPr>
          <p:cNvSpPr>
            <a:spLocks noGrp="1"/>
          </p:cNvSpPr>
          <p:nvPr>
            <p:ph sz="half" idx="1"/>
          </p:nvPr>
        </p:nvSpPr>
        <p:spPr>
          <a:xfrm>
            <a:off x="609600" y="1600203"/>
            <a:ext cx="10972800" cy="4525963"/>
          </a:xfrm>
        </p:spPr>
        <p:txBody>
          <a:bodyPr>
            <a:normAutofit/>
          </a:bodyPr>
          <a:lstStyle/>
          <a:p>
            <a:pPr lvl="0" algn="just"/>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the answers submitted by the student. </a:t>
            </a:r>
          </a:p>
          <a:p>
            <a:pPr lvl="0" algn="just"/>
            <a:r>
              <a:rPr lang="en-IN" dirty="0">
                <a:latin typeface="Times New Roman" panose="02020603050405020304" pitchFamily="18" charset="0"/>
                <a:cs typeface="Times New Roman" panose="02020603050405020304" pitchFamily="18" charset="0"/>
              </a:rPr>
              <a:t>Calculates accuracy for each individual topic. </a:t>
            </a:r>
          </a:p>
          <a:p>
            <a:pPr lvl="0" algn="just"/>
            <a:r>
              <a:rPr lang="en-IN" dirty="0">
                <a:latin typeface="Times New Roman" panose="02020603050405020304" pitchFamily="18" charset="0"/>
                <a:cs typeface="Times New Roman" panose="02020603050405020304" pitchFamily="18" charset="0"/>
              </a:rPr>
              <a:t>Uses the student's complete quiz history for cumulative analysis. </a:t>
            </a:r>
          </a:p>
          <a:p>
            <a:pPr lvl="0" algn="just"/>
            <a:r>
              <a:rPr lang="en-IN" dirty="0">
                <a:latin typeface="Times New Roman" panose="02020603050405020304" pitchFamily="18" charset="0"/>
                <a:cs typeface="Times New Roman" panose="02020603050405020304" pitchFamily="18" charset="0"/>
              </a:rPr>
              <a:t>Tracks the total number of questions attempted in each topic. </a:t>
            </a:r>
          </a:p>
          <a:p>
            <a:pPr lvl="0" algn="just"/>
            <a:r>
              <a:rPr lang="en-IN" dirty="0">
                <a:latin typeface="Times New Roman" panose="02020603050405020304" pitchFamily="18" charset="0"/>
                <a:cs typeface="Times New Roman" panose="02020603050405020304" pitchFamily="18" charset="0"/>
              </a:rPr>
              <a:t>Uses the </a:t>
            </a:r>
            <a:r>
              <a:rPr lang="en-IN" b="1" dirty="0">
                <a:latin typeface="Times New Roman" panose="02020603050405020304" pitchFamily="18" charset="0"/>
                <a:cs typeface="Times New Roman" panose="02020603050405020304" pitchFamily="18" charset="0"/>
              </a:rPr>
              <a:t>60% accuracy threshold</a:t>
            </a:r>
            <a:r>
              <a:rPr lang="en-IN" dirty="0">
                <a:latin typeface="Times New Roman" panose="02020603050405020304" pitchFamily="18" charset="0"/>
                <a:cs typeface="Times New Roman" panose="02020603050405020304" pitchFamily="18" charset="0"/>
              </a:rPr>
              <a:t> for weak-area identification. </a:t>
            </a:r>
          </a:p>
          <a:p>
            <a:pPr lvl="0" algn="just"/>
            <a:r>
              <a:rPr lang="en-IN" dirty="0">
                <a:latin typeface="Times New Roman" panose="02020603050405020304" pitchFamily="18" charset="0"/>
                <a:cs typeface="Times New Roman" panose="02020603050405020304" pitchFamily="18" charset="0"/>
              </a:rPr>
              <a:t>Topics below 60% are automatically marked as weak. </a:t>
            </a:r>
          </a:p>
          <a:p>
            <a:pPr lvl="0" algn="just"/>
            <a:r>
              <a:rPr lang="en-IN" dirty="0">
                <a:latin typeface="Times New Roman" panose="02020603050405020304" pitchFamily="18" charset="0"/>
                <a:cs typeface="Times New Roman" panose="02020603050405020304" pitchFamily="18" charset="0"/>
              </a:rPr>
              <a:t>Session-specific performance can also be calculated. </a:t>
            </a:r>
          </a:p>
          <a:p>
            <a:pPr lvl="0" algn="just"/>
            <a:r>
              <a:rPr lang="en-IN" dirty="0">
                <a:latin typeface="Times New Roman" panose="02020603050405020304" pitchFamily="18" charset="0"/>
                <a:cs typeface="Times New Roman" panose="02020603050405020304" pitchFamily="18" charset="0"/>
              </a:rPr>
              <a:t>The detected weak areas are provided to the Adaptive Quiz Engine. </a:t>
            </a:r>
          </a:p>
          <a:p>
            <a:pPr marL="0" indent="0">
              <a:buNone/>
            </a:pPr>
            <a:endParaRPr lang="en-IN" dirty="0"/>
          </a:p>
        </p:txBody>
      </p:sp>
    </p:spTree>
    <p:extLst>
      <p:ext uri="{BB962C8B-B14F-4D97-AF65-F5344CB8AC3E}">
        <p14:creationId xmlns:p14="http://schemas.microsoft.com/office/powerpoint/2010/main" val="4109392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28B0-C880-9463-6995-58B6FE9A0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91616-3D79-94B1-A09A-8A3F51ED929A}"/>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3- </a:t>
            </a:r>
            <a:r>
              <a:rPr lang="en-IN" sz="4000" dirty="0">
                <a:latin typeface="Times New Roman" panose="02020603050405020304" pitchFamily="18" charset="0"/>
                <a:cs typeface="Times New Roman" panose="02020603050405020304" pitchFamily="18" charset="0"/>
              </a:rPr>
              <a:t>Performance Scoring &amp; Weak-Area Detection</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91682F7-196A-7E42-50ED-4E2280D3DA0E}"/>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10" name="Content Placeholder 9" descr="A Java code snippet defines a method to calculate topic accuracy and identify topics with accuracy below 60%.&#10;&#10;AI-generated content may be incorrect.">
            <a:extLst>
              <a:ext uri="{FF2B5EF4-FFF2-40B4-BE49-F238E27FC236}">
                <a16:creationId xmlns:a16="http://schemas.microsoft.com/office/drawing/2014/main" id="{C630220E-F4ED-43F0-4E10-78ED94710B9E}"/>
              </a:ext>
            </a:extLst>
          </p:cNvPr>
          <p:cNvPicPr>
            <a:picLocks noGrp="1" noChangeAspect="1"/>
          </p:cNvPicPr>
          <p:nvPr>
            <p:ph sz="half" idx="1"/>
          </p:nvPr>
        </p:nvPicPr>
        <p:blipFill>
          <a:blip r:embed="rId2"/>
          <a:stretch>
            <a:fillRect/>
          </a:stretch>
        </p:blipFill>
        <p:spPr>
          <a:xfrm>
            <a:off x="609600" y="1481328"/>
            <a:ext cx="5384800" cy="4319137"/>
          </a:xfrm>
          <a:prstGeom prst="rect">
            <a:avLst/>
          </a:prstGeom>
        </p:spPr>
      </p:pic>
      <p:pic>
        <p:nvPicPr>
          <p:cNvPr id="12" name="Picture 11" descr="Data Structures&#10;&#10;AI-generated content may be incorrect.">
            <a:extLst>
              <a:ext uri="{FF2B5EF4-FFF2-40B4-BE49-F238E27FC236}">
                <a16:creationId xmlns:a16="http://schemas.microsoft.com/office/drawing/2014/main" id="{82A4DB9F-3A9D-F1FD-EB15-969B0112D000}"/>
              </a:ext>
            </a:extLst>
          </p:cNvPr>
          <p:cNvPicPr>
            <a:picLocks noChangeAspect="1"/>
          </p:cNvPicPr>
          <p:nvPr/>
        </p:nvPicPr>
        <p:blipFill>
          <a:blip r:embed="rId3"/>
          <a:stretch>
            <a:fillRect/>
          </a:stretch>
        </p:blipFill>
        <p:spPr>
          <a:xfrm>
            <a:off x="6197602" y="3429000"/>
            <a:ext cx="5599687" cy="1902897"/>
          </a:xfrm>
          <a:prstGeom prst="rect">
            <a:avLst/>
          </a:prstGeom>
        </p:spPr>
      </p:pic>
    </p:spTree>
    <p:extLst>
      <p:ext uri="{BB962C8B-B14F-4D97-AF65-F5344CB8AC3E}">
        <p14:creationId xmlns:p14="http://schemas.microsoft.com/office/powerpoint/2010/main" val="2382278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473C8-1CFA-6000-C524-704D05731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1DB61-F36F-613F-0B53-64B4B09AAF00}"/>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4- </a:t>
            </a:r>
            <a:r>
              <a:rPr lang="en-IN" sz="4000" dirty="0">
                <a:latin typeface="Times New Roman" panose="02020603050405020304" pitchFamily="18" charset="0"/>
                <a:cs typeface="Times New Roman" panose="02020603050405020304" pitchFamily="18" charset="0"/>
              </a:rPr>
              <a:t>Adaptive Quiz Generation Engine</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21BDC86-9340-2514-9FC0-AD72CF9036A3}"/>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7" name="Content Placeholder 6">
            <a:extLst>
              <a:ext uri="{FF2B5EF4-FFF2-40B4-BE49-F238E27FC236}">
                <a16:creationId xmlns:a16="http://schemas.microsoft.com/office/drawing/2014/main" id="{DF28ABB3-62A9-9C3E-E2FA-D08E79E5D37F}"/>
              </a:ext>
            </a:extLst>
          </p:cNvPr>
          <p:cNvSpPr>
            <a:spLocks noGrp="1"/>
          </p:cNvSpPr>
          <p:nvPr>
            <p:ph sz="half" idx="1"/>
          </p:nvPr>
        </p:nvSpPr>
        <p:spPr>
          <a:xfrm>
            <a:off x="609600" y="1735285"/>
            <a:ext cx="10783824" cy="4525963"/>
          </a:xfrm>
        </p:spPr>
        <p:txBody>
          <a:bodyPr>
            <a:normAutofit lnSpcReduction="10000"/>
          </a:bodyPr>
          <a:lstStyle/>
          <a:p>
            <a:pPr lvl="0"/>
            <a:r>
              <a:rPr lang="en-IN" dirty="0">
                <a:latin typeface="Times New Roman" panose="02020603050405020304" pitchFamily="18" charset="0"/>
                <a:cs typeface="Times New Roman" panose="02020603050405020304" pitchFamily="18" charset="0"/>
              </a:rPr>
              <a:t>Retrieves the latest weak topics from the scoring module. </a:t>
            </a:r>
          </a:p>
          <a:p>
            <a:pPr lvl="0"/>
            <a:r>
              <a:rPr lang="en-IN" dirty="0">
                <a:latin typeface="Times New Roman" panose="02020603050405020304" pitchFamily="18" charset="0"/>
                <a:cs typeface="Times New Roman" panose="02020603050405020304" pitchFamily="18" charset="0"/>
              </a:rPr>
              <a:t>Creates separate question pools for weak and other topics. </a:t>
            </a:r>
          </a:p>
          <a:p>
            <a:pPr lvl="0"/>
            <a:r>
              <a:rPr lang="en-IN" dirty="0">
                <a:latin typeface="Times New Roman" panose="02020603050405020304" pitchFamily="18" charset="0"/>
                <a:cs typeface="Times New Roman" panose="02020603050405020304" pitchFamily="18" charset="0"/>
              </a:rPr>
              <a:t>Selects approximately </a:t>
            </a:r>
            <a:r>
              <a:rPr lang="en-IN" b="1" dirty="0">
                <a:latin typeface="Times New Roman" panose="02020603050405020304" pitchFamily="18" charset="0"/>
                <a:cs typeface="Times New Roman" panose="02020603050405020304" pitchFamily="18" charset="0"/>
              </a:rPr>
              <a:t>70% of questions from weak topics</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Selects approximately </a:t>
            </a:r>
            <a:r>
              <a:rPr lang="en-IN" b="1" dirty="0">
                <a:latin typeface="Times New Roman" panose="02020603050405020304" pitchFamily="18" charset="0"/>
                <a:cs typeface="Times New Roman" panose="02020603050405020304" pitchFamily="18" charset="0"/>
              </a:rPr>
              <a:t>30% of questions from other topics</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Randomly shuffles the selected question pools. </a:t>
            </a:r>
          </a:p>
          <a:p>
            <a:pPr lvl="0"/>
            <a:r>
              <a:rPr lang="en-IN" dirty="0">
                <a:latin typeface="Times New Roman" panose="02020603050405020304" pitchFamily="18" charset="0"/>
                <a:cs typeface="Times New Roman" panose="02020603050405020304" pitchFamily="18" charset="0"/>
              </a:rPr>
              <a:t>Uses additional questions if one question pool has insufficient questions. </a:t>
            </a:r>
          </a:p>
          <a:p>
            <a:pPr lvl="0"/>
            <a:r>
              <a:rPr lang="en-IN" dirty="0">
                <a:latin typeface="Times New Roman" panose="02020603050405020304" pitchFamily="18" charset="0"/>
                <a:cs typeface="Times New Roman" panose="02020603050405020304" pitchFamily="18" charset="0"/>
              </a:rPr>
              <a:t>Performs a final shuffle before displaying the quiz. </a:t>
            </a:r>
          </a:p>
          <a:p>
            <a:pPr lvl="0"/>
            <a:r>
              <a:rPr lang="en-IN" dirty="0">
                <a:latin typeface="Times New Roman" panose="02020603050405020304" pitchFamily="18" charset="0"/>
                <a:cs typeface="Times New Roman" panose="02020603050405020304" pitchFamily="18" charset="0"/>
              </a:rPr>
              <a:t>If no weak topic is available, the system generates a random quiz. </a:t>
            </a:r>
          </a:p>
          <a:p>
            <a:endParaRPr lang="en-IN" dirty="0"/>
          </a:p>
        </p:txBody>
      </p:sp>
    </p:spTree>
    <p:extLst>
      <p:ext uri="{BB962C8B-B14F-4D97-AF65-F5344CB8AC3E}">
        <p14:creationId xmlns:p14="http://schemas.microsoft.com/office/powerpoint/2010/main" val="217253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82E8-8C62-A400-62C9-4069C530D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3F44D-69B3-C36E-F694-621CED9A3F3A}"/>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4- </a:t>
            </a:r>
            <a:r>
              <a:rPr lang="en-IN" sz="4000" dirty="0">
                <a:latin typeface="Times New Roman" panose="02020603050405020304" pitchFamily="18" charset="0"/>
                <a:cs typeface="Times New Roman" panose="02020603050405020304" pitchFamily="18" charset="0"/>
              </a:rPr>
              <a:t>Adaptive Quiz Generation Engine</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05F53B1-F500-B9C1-24CF-A5948C5D1537}"/>
              </a:ext>
            </a:extLst>
          </p:cNvPr>
          <p:cNvSpPr>
            <a:spLocks noGrp="1"/>
          </p:cNvSpPr>
          <p:nvPr>
            <p:ph type="sldNum" sz="quarter" idx="12"/>
          </p:nvPr>
        </p:nvSpPr>
        <p:spPr/>
        <p:txBody>
          <a:bodyPr/>
          <a:lstStyle/>
          <a:p>
            <a:fld id="{C1FF6DA9-008F-8B48-92A6-B652298478BF}" type="slidenum">
              <a:rPr lang="en-US" smtClean="0"/>
              <a:t>15</a:t>
            </a:fld>
            <a:endParaRPr lang="en-US"/>
          </a:p>
        </p:txBody>
      </p:sp>
      <p:pic>
        <p:nvPicPr>
          <p:cNvPr id="8" name="Content Placeholder 7" descr="The provided code snippet appears to be a method for generating an adaptive quiz, which dynamically selects questions based on a user's weak topics and a specified number of total questions.&#10;&#10;AI-generated content may be incorrect.">
            <a:extLst>
              <a:ext uri="{FF2B5EF4-FFF2-40B4-BE49-F238E27FC236}">
                <a16:creationId xmlns:a16="http://schemas.microsoft.com/office/drawing/2014/main" id="{3A2EB0D6-BC71-44C1-8B81-13B9A5E9B65A}"/>
              </a:ext>
            </a:extLst>
          </p:cNvPr>
          <p:cNvPicPr>
            <a:picLocks noGrp="1" noChangeAspect="1"/>
          </p:cNvPicPr>
          <p:nvPr>
            <p:ph sz="half" idx="1"/>
          </p:nvPr>
        </p:nvPicPr>
        <p:blipFill>
          <a:blip r:embed="rId2"/>
          <a:stretch>
            <a:fillRect/>
          </a:stretch>
        </p:blipFill>
        <p:spPr>
          <a:xfrm>
            <a:off x="609600" y="1702058"/>
            <a:ext cx="5384800" cy="4654295"/>
          </a:xfrm>
          <a:prstGeom prst="rect">
            <a:avLst/>
          </a:prstGeom>
        </p:spPr>
      </p:pic>
    </p:spTree>
    <p:extLst>
      <p:ext uri="{BB962C8B-B14F-4D97-AF65-F5344CB8AC3E}">
        <p14:creationId xmlns:p14="http://schemas.microsoft.com/office/powerpoint/2010/main" val="3632365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08A11-2402-434D-CA65-032F1372D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7CF1D-125D-B9B2-C180-AE74D49EF3C8}"/>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5- </a:t>
            </a:r>
            <a:r>
              <a:rPr lang="en-IN" sz="4000" dirty="0">
                <a:latin typeface="Times New Roman" panose="02020603050405020304" pitchFamily="18" charset="0"/>
                <a:cs typeface="Times New Roman" panose="02020603050405020304" pitchFamily="18" charset="0"/>
              </a:rPr>
              <a:t>Results Dashboard &amp; Progress Reporting</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FE11B54-AEAE-FFF7-C60D-1D9C5E2E56A2}"/>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7" name="Content Placeholder 6">
            <a:extLst>
              <a:ext uri="{FF2B5EF4-FFF2-40B4-BE49-F238E27FC236}">
                <a16:creationId xmlns:a16="http://schemas.microsoft.com/office/drawing/2014/main" id="{D8289619-2C9F-C81A-6C4F-0CA387E95452}"/>
              </a:ext>
            </a:extLst>
          </p:cNvPr>
          <p:cNvSpPr>
            <a:spLocks noGrp="1"/>
          </p:cNvSpPr>
          <p:nvPr>
            <p:ph sz="half" idx="1"/>
          </p:nvPr>
        </p:nvSpPr>
        <p:spPr>
          <a:xfrm>
            <a:off x="609600" y="1600203"/>
            <a:ext cx="10674096" cy="4525963"/>
          </a:xfrm>
        </p:spPr>
        <p:txBody>
          <a:bodyPr>
            <a:normAutofit lnSpcReduction="10000"/>
          </a:bodyPr>
          <a:lstStyle/>
          <a:p>
            <a:pPr lvl="0"/>
            <a:r>
              <a:rPr lang="en-IN" dirty="0">
                <a:latin typeface="Times New Roman" panose="02020603050405020304" pitchFamily="18" charset="0"/>
                <a:cs typeface="Times New Roman" panose="02020603050405020304" pitchFamily="18" charset="0"/>
              </a:rPr>
              <a:t>Displays the student's previous quiz attempts. </a:t>
            </a:r>
          </a:p>
          <a:p>
            <a:pPr lvl="0"/>
            <a:r>
              <a:rPr lang="en-IN" dirty="0">
                <a:latin typeface="Times New Roman" panose="02020603050405020304" pitchFamily="18" charset="0"/>
                <a:cs typeface="Times New Roman" panose="02020603050405020304" pitchFamily="18" charset="0"/>
              </a:rPr>
              <a:t>Shows overall topic-wise performance. </a:t>
            </a:r>
          </a:p>
          <a:p>
            <a:pPr lvl="0"/>
            <a:r>
              <a:rPr lang="en-IN" dirty="0">
                <a:latin typeface="Times New Roman" panose="02020603050405020304" pitchFamily="18" charset="0"/>
                <a:cs typeface="Times New Roman" panose="02020603050405020304" pitchFamily="18" charset="0"/>
              </a:rPr>
              <a:t>Highlights weak topics for easy identification. </a:t>
            </a:r>
          </a:p>
          <a:p>
            <a:pPr lvl="0"/>
            <a:r>
              <a:rPr lang="en-IN" dirty="0">
                <a:latin typeface="Times New Roman" panose="02020603050405020304" pitchFamily="18" charset="0"/>
                <a:cs typeface="Times New Roman" panose="02020603050405020304" pitchFamily="18" charset="0"/>
              </a:rPr>
              <a:t>Displays a </a:t>
            </a:r>
            <a:r>
              <a:rPr lang="en-IN" b="1" dirty="0">
                <a:latin typeface="Times New Roman" panose="02020603050405020304" pitchFamily="18" charset="0"/>
                <a:cs typeface="Times New Roman" panose="02020603050405020304" pitchFamily="18" charset="0"/>
              </a:rPr>
              <a:t>“Needs Improvement”</a:t>
            </a:r>
            <a:r>
              <a:rPr lang="en-IN" dirty="0">
                <a:latin typeface="Times New Roman" panose="02020603050405020304" pitchFamily="18" charset="0"/>
                <a:cs typeface="Times New Roman" panose="02020603050405020304" pitchFamily="18" charset="0"/>
              </a:rPr>
              <a:t> status for weak areas. </a:t>
            </a:r>
          </a:p>
          <a:p>
            <a:pPr lvl="0"/>
            <a:r>
              <a:rPr lang="en-IN" dirty="0">
                <a:latin typeface="Times New Roman" panose="02020603050405020304" pitchFamily="18" charset="0"/>
                <a:cs typeface="Times New Roman" panose="02020603050405020304" pitchFamily="18" charset="0"/>
              </a:rPr>
              <a:t>Allows students to review previous quiz attempts. </a:t>
            </a:r>
          </a:p>
          <a:p>
            <a:pPr lvl="0"/>
            <a:r>
              <a:rPr lang="en-IN" dirty="0">
                <a:latin typeface="Times New Roman" panose="02020603050405020304" pitchFamily="18" charset="0"/>
                <a:cs typeface="Times New Roman" panose="02020603050405020304" pitchFamily="18" charset="0"/>
              </a:rPr>
              <a:t>Provides question-by-question correctness details. </a:t>
            </a:r>
          </a:p>
          <a:p>
            <a:pPr lvl="0"/>
            <a:r>
              <a:rPr lang="en-IN" dirty="0">
                <a:latin typeface="Times New Roman" panose="02020603050405020304" pitchFamily="18" charset="0"/>
                <a:cs typeface="Times New Roman" panose="02020603050405020304" pitchFamily="18" charset="0"/>
              </a:rPr>
              <a:t>Shows session accuracy and topic-wise performance. </a:t>
            </a:r>
          </a:p>
          <a:p>
            <a:pPr lvl="0"/>
            <a:r>
              <a:rPr lang="en-IN" dirty="0">
                <a:latin typeface="Times New Roman" panose="02020603050405020304" pitchFamily="18" charset="0"/>
                <a:cs typeface="Times New Roman" panose="02020603050405020304" pitchFamily="18" charset="0"/>
              </a:rPr>
              <a:t>Automatically refreshes the dashboard after quiz completion or data changes.</a:t>
            </a:r>
          </a:p>
          <a:p>
            <a:endParaRPr lang="en-IN" dirty="0"/>
          </a:p>
        </p:txBody>
      </p:sp>
    </p:spTree>
    <p:extLst>
      <p:ext uri="{BB962C8B-B14F-4D97-AF65-F5344CB8AC3E}">
        <p14:creationId xmlns:p14="http://schemas.microsoft.com/office/powerpoint/2010/main" val="3629915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AAB29-8E73-0B12-DAA7-1323DD2A2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E0409-187C-6CE3-02EC-FDF26D8D7527}"/>
              </a:ext>
            </a:extLst>
          </p:cNvPr>
          <p:cNvSpPr>
            <a:spLocks noGrp="1"/>
          </p:cNvSpPr>
          <p:nvPr>
            <p:ph type="title"/>
          </p:nvPr>
        </p:nvSpPr>
        <p:spPr>
          <a:xfrm>
            <a:off x="0" y="0"/>
            <a:ext cx="12192000" cy="1143000"/>
          </a:xfrm>
        </p:spPr>
        <p:txBody>
          <a:bodyPr>
            <a:normAutofit/>
          </a:bodyPr>
          <a:lstStyle/>
          <a:p>
            <a:r>
              <a:rPr lang="en-IN" sz="4000" b="1" dirty="0">
                <a:latin typeface="Times New Roman" panose="02020603050405020304" pitchFamily="18" charset="0"/>
                <a:cs typeface="Times New Roman" panose="02020603050405020304" pitchFamily="18" charset="0"/>
              </a:rPr>
              <a:t>Module 5- </a:t>
            </a:r>
            <a:r>
              <a:rPr lang="en-IN" sz="4000" dirty="0">
                <a:latin typeface="Times New Roman" panose="02020603050405020304" pitchFamily="18" charset="0"/>
                <a:cs typeface="Times New Roman" panose="02020603050405020304" pitchFamily="18" charset="0"/>
              </a:rPr>
              <a:t>Results Dashboard &amp; Progress Reporting</a:t>
            </a:r>
            <a:endParaRPr lang="en-IN" sz="4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DD587E2-B14A-F1F6-4BE0-1F79E636DC2B}"/>
              </a:ext>
            </a:extLst>
          </p:cNvPr>
          <p:cNvSpPr>
            <a:spLocks noGrp="1"/>
          </p:cNvSpPr>
          <p:nvPr>
            <p:ph type="sldNum" sz="quarter" idx="12"/>
          </p:nvPr>
        </p:nvSpPr>
        <p:spPr/>
        <p:txBody>
          <a:bodyPr/>
          <a:lstStyle/>
          <a:p>
            <a:fld id="{C1FF6DA9-008F-8B48-92A6-B652298478BF}" type="slidenum">
              <a:rPr lang="en-US" smtClean="0"/>
              <a:t>17</a:t>
            </a:fld>
            <a:endParaRPr lang="en-US"/>
          </a:p>
        </p:txBody>
      </p:sp>
      <p:pic>
        <p:nvPicPr>
          <p:cNvPr id="8" name="Content Placeholder 7" descr="Needs Improvement&#10;&#10;AI-generated content may be incorrect.">
            <a:extLst>
              <a:ext uri="{FF2B5EF4-FFF2-40B4-BE49-F238E27FC236}">
                <a16:creationId xmlns:a16="http://schemas.microsoft.com/office/drawing/2014/main" id="{4D930F2A-3168-41A3-239C-319F24DF407B}"/>
              </a:ext>
            </a:extLst>
          </p:cNvPr>
          <p:cNvPicPr>
            <a:picLocks noGrp="1" noChangeAspect="1"/>
          </p:cNvPicPr>
          <p:nvPr>
            <p:ph sz="half" idx="1"/>
          </p:nvPr>
        </p:nvPicPr>
        <p:blipFill>
          <a:blip r:embed="rId2"/>
          <a:stretch>
            <a:fillRect/>
          </a:stretch>
        </p:blipFill>
        <p:spPr>
          <a:xfrm>
            <a:off x="362713" y="1819655"/>
            <a:ext cx="5828538" cy="4087717"/>
          </a:xfrm>
          <a:prstGeom prst="rect">
            <a:avLst/>
          </a:prstGeom>
        </p:spPr>
      </p:pic>
      <p:pic>
        <p:nvPicPr>
          <p:cNvPr id="12" name="Picture 11" descr="A quiz review session shows a 80% overall accuracy, with correct answers on Java basics and data structures, and incorrect answers on object-oriented programming and other topics.&#10;&#10;AI-generated content may be incorrect.">
            <a:extLst>
              <a:ext uri="{FF2B5EF4-FFF2-40B4-BE49-F238E27FC236}">
                <a16:creationId xmlns:a16="http://schemas.microsoft.com/office/drawing/2014/main" id="{8CD777EF-9BDC-3D10-46DE-2D5503666196}"/>
              </a:ext>
            </a:extLst>
          </p:cNvPr>
          <p:cNvPicPr>
            <a:picLocks noChangeAspect="1"/>
          </p:cNvPicPr>
          <p:nvPr/>
        </p:nvPicPr>
        <p:blipFill>
          <a:blip r:embed="rId3"/>
          <a:stretch>
            <a:fillRect/>
          </a:stretch>
        </p:blipFill>
        <p:spPr>
          <a:xfrm>
            <a:off x="6734175" y="1819656"/>
            <a:ext cx="4971288" cy="2152761"/>
          </a:xfrm>
          <a:prstGeom prst="rect">
            <a:avLst/>
          </a:prstGeom>
        </p:spPr>
      </p:pic>
      <p:pic>
        <p:nvPicPr>
          <p:cNvPr id="14" name="Picture 13" descr="The image displays a performance analysis table for a quiz, with topics like Java Basics and Data Structures, showing accuracy percentages and statuses such as 'Good' and 'Needs Improvement'.&#10;&#10;AI-generated content may be incorrect.">
            <a:extLst>
              <a:ext uri="{FF2B5EF4-FFF2-40B4-BE49-F238E27FC236}">
                <a16:creationId xmlns:a16="http://schemas.microsoft.com/office/drawing/2014/main" id="{58381D8A-A4F8-E63B-7C89-A2186889B868}"/>
              </a:ext>
            </a:extLst>
          </p:cNvPr>
          <p:cNvPicPr>
            <a:picLocks noChangeAspect="1"/>
          </p:cNvPicPr>
          <p:nvPr/>
        </p:nvPicPr>
        <p:blipFill>
          <a:blip r:embed="rId4"/>
          <a:stretch>
            <a:fillRect/>
          </a:stretch>
        </p:blipFill>
        <p:spPr>
          <a:xfrm>
            <a:off x="6738938" y="4421397"/>
            <a:ext cx="4966525" cy="1485976"/>
          </a:xfrm>
          <a:prstGeom prst="rect">
            <a:avLst/>
          </a:prstGeom>
        </p:spPr>
      </p:pic>
    </p:spTree>
    <p:extLst>
      <p:ext uri="{BB962C8B-B14F-4D97-AF65-F5344CB8AC3E}">
        <p14:creationId xmlns:p14="http://schemas.microsoft.com/office/powerpoint/2010/main" val="2400938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04ED1F-79A4-ED78-E8CD-0731C3518019}"/>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7" name="Picture 6">
            <a:extLst>
              <a:ext uri="{FF2B5EF4-FFF2-40B4-BE49-F238E27FC236}">
                <a16:creationId xmlns:a16="http://schemas.microsoft.com/office/drawing/2014/main" id="{B980F061-0D7C-7E88-2A2F-AC3BFC14841E}"/>
              </a:ext>
            </a:extLst>
          </p:cNvPr>
          <p:cNvPicPr>
            <a:picLocks noChangeAspect="1"/>
          </p:cNvPicPr>
          <p:nvPr/>
        </p:nvPicPr>
        <p:blipFill>
          <a:blip r:embed="rId2"/>
          <a:stretch>
            <a:fillRect/>
          </a:stretch>
        </p:blipFill>
        <p:spPr>
          <a:xfrm>
            <a:off x="952500" y="136522"/>
            <a:ext cx="10287000" cy="6357796"/>
          </a:xfrm>
          <a:prstGeom prst="rect">
            <a:avLst/>
          </a:prstGeom>
        </p:spPr>
      </p:pic>
    </p:spTree>
    <p:extLst>
      <p:ext uri="{BB962C8B-B14F-4D97-AF65-F5344CB8AC3E}">
        <p14:creationId xmlns:p14="http://schemas.microsoft.com/office/powerpoint/2010/main" val="1263615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826"/>
            <a:ext cx="12191999" cy="1143000"/>
          </a:xfrm>
        </p:spPr>
        <p:txBody>
          <a:bodyPr>
            <a:normAutofit/>
          </a:bodyPr>
          <a:lstStyle/>
          <a:p>
            <a:r>
              <a:rPr sz="4000" b="1" dirty="0">
                <a:latin typeface="Times New Roman" panose="02020603050405020304" pitchFamily="18" charset="0"/>
                <a:cs typeface="Times New Roman" panose="02020603050405020304" pitchFamily="18" charset="0"/>
              </a:rPr>
              <a:t>Future Scope</a:t>
            </a:r>
          </a:p>
        </p:txBody>
      </p:sp>
      <p:sp>
        <p:nvSpPr>
          <p:cNvPr id="3" name="Slide Number Placeholder 2">
            <a:extLst>
              <a:ext uri="{FF2B5EF4-FFF2-40B4-BE49-F238E27FC236}">
                <a16:creationId xmlns:a16="http://schemas.microsoft.com/office/drawing/2014/main" id="{4C94F9BF-FDCC-AB32-9F3F-588071F6E51E}"/>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4" name="Content Placeholder 3">
            <a:extLst>
              <a:ext uri="{FF2B5EF4-FFF2-40B4-BE49-F238E27FC236}">
                <a16:creationId xmlns:a16="http://schemas.microsoft.com/office/drawing/2014/main" id="{9B773140-A2F1-3E23-42A6-B84C8FBA00CF}"/>
              </a:ext>
            </a:extLst>
          </p:cNvPr>
          <p:cNvSpPr>
            <a:spLocks noGrp="1"/>
          </p:cNvSpPr>
          <p:nvPr>
            <p:ph idx="1"/>
          </p:nvPr>
        </p:nvSpPr>
        <p:spPr>
          <a:xfrm>
            <a:off x="609599" y="1168258"/>
            <a:ext cx="10972800" cy="5370657"/>
          </a:xfrm>
        </p:spPr>
        <p:txBody>
          <a:bodyPr>
            <a:normAutofit fontScale="25000" lnSpcReduction="20000"/>
          </a:bodyPr>
          <a:lstStyle/>
          <a:p>
            <a:pPr lvl="0"/>
            <a:r>
              <a:rPr lang="en-IN" sz="9600" b="1" dirty="0">
                <a:latin typeface="Times New Roman" panose="02020603050405020304" pitchFamily="18" charset="0"/>
                <a:cs typeface="Times New Roman" panose="02020603050405020304" pitchFamily="18" charset="0"/>
              </a:rPr>
              <a:t>User Authentication:</a:t>
            </a:r>
            <a:r>
              <a:rPr lang="en-IN" sz="9600" dirty="0">
                <a:latin typeface="Times New Roman" panose="02020603050405020304" pitchFamily="18" charset="0"/>
                <a:cs typeface="Times New Roman" panose="02020603050405020304" pitchFamily="18" charset="0"/>
              </a:rPr>
              <a:t> Add login and individual student profiles for multi-user support. </a:t>
            </a:r>
          </a:p>
          <a:p>
            <a:pPr lvl="0"/>
            <a:r>
              <a:rPr lang="en-IN" sz="9600" b="1" dirty="0">
                <a:latin typeface="Times New Roman" panose="02020603050405020304" pitchFamily="18" charset="0"/>
                <a:cs typeface="Times New Roman" panose="02020603050405020304" pitchFamily="18" charset="0"/>
              </a:rPr>
              <a:t>Cloud Deployment:</a:t>
            </a:r>
            <a:r>
              <a:rPr lang="en-IN" sz="9600" dirty="0">
                <a:latin typeface="Times New Roman" panose="02020603050405020304" pitchFamily="18" charset="0"/>
                <a:cs typeface="Times New Roman" panose="02020603050405020304" pitchFamily="18" charset="0"/>
              </a:rPr>
              <a:t> Convert the desktop application into a web-based or cloud-based system. </a:t>
            </a:r>
          </a:p>
          <a:p>
            <a:pPr lvl="0"/>
            <a:r>
              <a:rPr lang="en-IN" sz="9600" b="1" dirty="0">
                <a:latin typeface="Times New Roman" panose="02020603050405020304" pitchFamily="18" charset="0"/>
                <a:cs typeface="Times New Roman" panose="02020603050405020304" pitchFamily="18" charset="0"/>
              </a:rPr>
              <a:t>Real-Time CSV Upload:</a:t>
            </a:r>
            <a:r>
              <a:rPr lang="en-IN" sz="9600" dirty="0">
                <a:latin typeface="Times New Roman" panose="02020603050405020304" pitchFamily="18" charset="0"/>
                <a:cs typeface="Times New Roman" panose="02020603050405020304" pitchFamily="18" charset="0"/>
              </a:rPr>
              <a:t> Allow users to upload question files directly while the application is running. </a:t>
            </a:r>
          </a:p>
          <a:p>
            <a:pPr lvl="0"/>
            <a:r>
              <a:rPr lang="en-IN" sz="9600" b="1" dirty="0">
                <a:latin typeface="Times New Roman" panose="02020603050405020304" pitchFamily="18" charset="0"/>
                <a:cs typeface="Times New Roman" panose="02020603050405020304" pitchFamily="18" charset="0"/>
              </a:rPr>
              <a:t>Improved Question Selection:</a:t>
            </a:r>
            <a:r>
              <a:rPr lang="en-IN" sz="9600" dirty="0">
                <a:latin typeface="Times New Roman" panose="02020603050405020304" pitchFamily="18" charset="0"/>
                <a:cs typeface="Times New Roman" panose="02020603050405020304" pitchFamily="18" charset="0"/>
              </a:rPr>
              <a:t> Generate more balanced random quizzes across different topics. </a:t>
            </a:r>
          </a:p>
          <a:p>
            <a:pPr lvl="0"/>
            <a:r>
              <a:rPr lang="en-IN" sz="9600" b="1" dirty="0">
                <a:latin typeface="Times New Roman" panose="02020603050405020304" pitchFamily="18" charset="0"/>
                <a:cs typeface="Times New Roman" panose="02020603050405020304" pitchFamily="18" charset="0"/>
              </a:rPr>
              <a:t>Enhanced Adaptive Learning:</a:t>
            </a:r>
            <a:r>
              <a:rPr lang="en-IN" sz="9600" dirty="0">
                <a:latin typeface="Times New Roman" panose="02020603050405020304" pitchFamily="18" charset="0"/>
                <a:cs typeface="Times New Roman" panose="02020603050405020304" pitchFamily="18" charset="0"/>
              </a:rPr>
              <a:t> Consider question difficulty and previous attempts for better personalization. </a:t>
            </a:r>
          </a:p>
          <a:p>
            <a:pPr lvl="0"/>
            <a:r>
              <a:rPr lang="en-IN" sz="9600" b="1" dirty="0">
                <a:latin typeface="Times New Roman" panose="02020603050405020304" pitchFamily="18" charset="0"/>
                <a:cs typeface="Times New Roman" panose="02020603050405020304" pitchFamily="18" charset="0"/>
              </a:rPr>
              <a:t>Advanced Reporting:</a:t>
            </a:r>
            <a:r>
              <a:rPr lang="en-IN" sz="9600" dirty="0">
                <a:latin typeface="Times New Roman" panose="02020603050405020304" pitchFamily="18" charset="0"/>
                <a:cs typeface="Times New Roman" panose="02020603050405020304" pitchFamily="18" charset="0"/>
              </a:rPr>
              <a:t> Add graphical charts and detailed progress reports for students and teachers. </a:t>
            </a:r>
          </a:p>
          <a:p>
            <a:pPr lvl="0"/>
            <a:r>
              <a:rPr lang="en-IN" sz="9600" b="1" dirty="0">
                <a:latin typeface="Times New Roman" panose="02020603050405020304" pitchFamily="18" charset="0"/>
                <a:cs typeface="Times New Roman" panose="02020603050405020304" pitchFamily="18" charset="0"/>
              </a:rPr>
              <a:t>Automatic Database Management:</a:t>
            </a:r>
            <a:r>
              <a:rPr lang="en-IN" sz="9600" dirty="0">
                <a:latin typeface="Times New Roman" panose="02020603050405020304" pitchFamily="18" charset="0"/>
                <a:cs typeface="Times New Roman" panose="02020603050405020304" pitchFamily="18" charset="0"/>
              </a:rPr>
              <a:t> Improve database relationships and enable safer automatic deletion of related records. </a:t>
            </a:r>
          </a:p>
          <a:p>
            <a:pPr lvl="0"/>
            <a:r>
              <a:rPr lang="en-IN" sz="9600" b="1" dirty="0">
                <a:latin typeface="Times New Roman" panose="02020603050405020304" pitchFamily="18" charset="0"/>
                <a:cs typeface="Times New Roman" panose="02020603050405020304" pitchFamily="18" charset="0"/>
              </a:rPr>
              <a:t>Mobile Application:</a:t>
            </a:r>
            <a:r>
              <a:rPr lang="en-IN" sz="9600" dirty="0">
                <a:latin typeface="Times New Roman" panose="02020603050405020304" pitchFamily="18" charset="0"/>
                <a:cs typeface="Times New Roman" panose="02020603050405020304" pitchFamily="18" charset="0"/>
              </a:rPr>
              <a:t> Extend the system to Android and other mobile platforms for easier access.</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3874"/>
            <a:ext cx="10972800" cy="1143000"/>
          </a:xfrm>
        </p:spPr>
        <p:txBody>
          <a:bodyPr>
            <a:normAutofit/>
          </a:bodyPr>
          <a:lstStyle/>
          <a:p>
            <a:r>
              <a:rPr sz="4000" b="1" dirty="0">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3F226B3D-B263-66BF-6AC3-5E7F56E270CC}"/>
              </a:ext>
            </a:extLst>
          </p:cNvPr>
          <p:cNvSpPr>
            <a:spLocks noGrp="1"/>
          </p:cNvSpPr>
          <p:nvPr>
            <p:ph idx="1"/>
          </p:nvPr>
        </p:nvSpPr>
        <p:spPr>
          <a:xfrm>
            <a:off x="606136" y="1783054"/>
            <a:ext cx="10602191" cy="3967737"/>
          </a:xfrm>
        </p:spPr>
        <p:txBody>
          <a:bodyPr>
            <a:normAutofit fontScale="47500" lnSpcReduction="20000"/>
          </a:bodyPr>
          <a:lstStyle/>
          <a:p>
            <a:pPr lvl="0"/>
            <a:r>
              <a:rPr lang="en-IN" sz="5100" dirty="0">
                <a:latin typeface="Times New Roman" panose="02020603050405020304" pitchFamily="18" charset="0"/>
                <a:cs typeface="Times New Roman" panose="02020603050405020304" pitchFamily="18" charset="0"/>
              </a:rPr>
              <a:t>The proposed system successfully implements an </a:t>
            </a:r>
            <a:r>
              <a:rPr lang="en-IN" sz="5100" b="1" dirty="0">
                <a:latin typeface="Times New Roman" panose="02020603050405020304" pitchFamily="18" charset="0"/>
                <a:cs typeface="Times New Roman" panose="02020603050405020304" pitchFamily="18" charset="0"/>
              </a:rPr>
              <a:t>automated adaptive quiz system using Java</a:t>
            </a:r>
            <a:r>
              <a:rPr lang="en-IN" sz="5100" dirty="0">
                <a:latin typeface="Times New Roman" panose="02020603050405020304" pitchFamily="18" charset="0"/>
                <a:cs typeface="Times New Roman" panose="02020603050405020304" pitchFamily="18" charset="0"/>
              </a:rPr>
              <a:t>. </a:t>
            </a:r>
          </a:p>
          <a:p>
            <a:pPr lvl="0"/>
            <a:r>
              <a:rPr lang="en-IN" sz="5100" dirty="0">
                <a:latin typeface="Times New Roman" panose="02020603050405020304" pitchFamily="18" charset="0"/>
                <a:cs typeface="Times New Roman" panose="02020603050405020304" pitchFamily="18" charset="0"/>
              </a:rPr>
              <a:t>It stores and manages quiz questions using </a:t>
            </a:r>
            <a:r>
              <a:rPr lang="en-IN" sz="5100" b="1" dirty="0">
                <a:latin typeface="Times New Roman" panose="02020603050405020304" pitchFamily="18" charset="0"/>
                <a:cs typeface="Times New Roman" panose="02020603050405020304" pitchFamily="18" charset="0"/>
              </a:rPr>
              <a:t>SQLite and JDBC</a:t>
            </a:r>
            <a:r>
              <a:rPr lang="en-IN" sz="5100" dirty="0">
                <a:latin typeface="Times New Roman" panose="02020603050405020304" pitchFamily="18" charset="0"/>
                <a:cs typeface="Times New Roman" panose="02020603050405020304" pitchFamily="18" charset="0"/>
              </a:rPr>
              <a:t>. </a:t>
            </a:r>
          </a:p>
          <a:p>
            <a:pPr lvl="0"/>
            <a:r>
              <a:rPr lang="en-IN" sz="5100" dirty="0">
                <a:latin typeface="Times New Roman" panose="02020603050405020304" pitchFamily="18" charset="0"/>
                <a:cs typeface="Times New Roman" panose="02020603050405020304" pitchFamily="18" charset="0"/>
              </a:rPr>
              <a:t>Student answers are recorded and </a:t>
            </a:r>
            <a:r>
              <a:rPr lang="en-IN" sz="5100" dirty="0" err="1">
                <a:latin typeface="Times New Roman" panose="02020603050405020304" pitchFamily="18" charset="0"/>
                <a:cs typeface="Times New Roman" panose="02020603050405020304" pitchFamily="18" charset="0"/>
              </a:rPr>
              <a:t>analyzed</a:t>
            </a:r>
            <a:r>
              <a:rPr lang="en-IN" sz="5100" dirty="0">
                <a:latin typeface="Times New Roman" panose="02020603050405020304" pitchFamily="18" charset="0"/>
                <a:cs typeface="Times New Roman" panose="02020603050405020304" pitchFamily="18" charset="0"/>
              </a:rPr>
              <a:t> to calculate </a:t>
            </a:r>
            <a:r>
              <a:rPr lang="en-IN" sz="5100" b="1" dirty="0">
                <a:latin typeface="Times New Roman" panose="02020603050405020304" pitchFamily="18" charset="0"/>
                <a:cs typeface="Times New Roman" panose="02020603050405020304" pitchFamily="18" charset="0"/>
              </a:rPr>
              <a:t>topic-wise performance</a:t>
            </a:r>
            <a:r>
              <a:rPr lang="en-IN" sz="5100" dirty="0">
                <a:latin typeface="Times New Roman" panose="02020603050405020304" pitchFamily="18" charset="0"/>
                <a:cs typeface="Times New Roman" panose="02020603050405020304" pitchFamily="18" charset="0"/>
              </a:rPr>
              <a:t>. </a:t>
            </a:r>
          </a:p>
          <a:p>
            <a:pPr lvl="0"/>
            <a:r>
              <a:rPr lang="en-IN" sz="5100" dirty="0">
                <a:latin typeface="Times New Roman" panose="02020603050405020304" pitchFamily="18" charset="0"/>
                <a:cs typeface="Times New Roman" panose="02020603050405020304" pitchFamily="18" charset="0"/>
              </a:rPr>
              <a:t>Topics with less than </a:t>
            </a:r>
            <a:r>
              <a:rPr lang="en-IN" sz="5100" b="1" dirty="0">
                <a:latin typeface="Times New Roman" panose="02020603050405020304" pitchFamily="18" charset="0"/>
                <a:cs typeface="Times New Roman" panose="02020603050405020304" pitchFamily="18" charset="0"/>
              </a:rPr>
              <a:t>60% accuracy</a:t>
            </a:r>
            <a:r>
              <a:rPr lang="en-IN" sz="5100" dirty="0">
                <a:latin typeface="Times New Roman" panose="02020603050405020304" pitchFamily="18" charset="0"/>
                <a:cs typeface="Times New Roman" panose="02020603050405020304" pitchFamily="18" charset="0"/>
              </a:rPr>
              <a:t> are automatically identified as weak areas. </a:t>
            </a:r>
          </a:p>
          <a:p>
            <a:pPr lvl="0"/>
            <a:r>
              <a:rPr lang="en-IN" sz="5100" dirty="0">
                <a:latin typeface="Times New Roman" panose="02020603050405020304" pitchFamily="18" charset="0"/>
                <a:cs typeface="Times New Roman" panose="02020603050405020304" pitchFamily="18" charset="0"/>
              </a:rPr>
              <a:t>The Adaptive Engine generates quizzes with approximately </a:t>
            </a:r>
            <a:r>
              <a:rPr lang="en-IN" sz="5100" b="1" dirty="0">
                <a:latin typeface="Times New Roman" panose="02020603050405020304" pitchFamily="18" charset="0"/>
                <a:cs typeface="Times New Roman" panose="02020603050405020304" pitchFamily="18" charset="0"/>
              </a:rPr>
              <a:t>70% questions from weak topics</a:t>
            </a:r>
            <a:r>
              <a:rPr lang="en-IN" sz="5100" dirty="0">
                <a:latin typeface="Times New Roman" panose="02020603050405020304" pitchFamily="18" charset="0"/>
                <a:cs typeface="Times New Roman" panose="02020603050405020304" pitchFamily="18" charset="0"/>
              </a:rPr>
              <a:t>. </a:t>
            </a:r>
          </a:p>
          <a:p>
            <a:pPr lvl="0"/>
            <a:r>
              <a:rPr lang="en-IN" sz="5100" dirty="0">
                <a:latin typeface="Times New Roman" panose="02020603050405020304" pitchFamily="18" charset="0"/>
                <a:cs typeface="Times New Roman" panose="02020603050405020304" pitchFamily="18" charset="0"/>
              </a:rPr>
              <a:t>The Results Dashboard helps students review their quiz history and performance. </a:t>
            </a:r>
          </a:p>
          <a:p>
            <a:pPr lvl="0"/>
            <a:r>
              <a:rPr lang="en-IN" sz="5100" dirty="0">
                <a:latin typeface="Times New Roman" panose="02020603050405020304" pitchFamily="18" charset="0"/>
                <a:cs typeface="Times New Roman" panose="02020603050405020304" pitchFamily="18" charset="0"/>
              </a:rPr>
              <a:t>Overall, the system provides </a:t>
            </a:r>
            <a:r>
              <a:rPr lang="en-IN" sz="5100" b="1" dirty="0">
                <a:latin typeface="Times New Roman" panose="02020603050405020304" pitchFamily="18" charset="0"/>
                <a:cs typeface="Times New Roman" panose="02020603050405020304" pitchFamily="18" charset="0"/>
              </a:rPr>
              <a:t>simple, personalized, and targeted learning support</a:t>
            </a:r>
            <a:r>
              <a:rPr lang="en-IN" sz="5100" dirty="0">
                <a:latin typeface="Times New Roman" panose="02020603050405020304" pitchFamily="18" charset="0"/>
                <a:cs typeface="Times New Roman" panose="02020603050405020304" pitchFamily="18" charset="0"/>
              </a:rPr>
              <a:t> without requiring complex statistical or psychometric models. </a:t>
            </a:r>
          </a:p>
          <a:p>
            <a:pPr marL="0" lvl="0" indent="0">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9396"/>
            <a:ext cx="10972800" cy="1143000"/>
          </a:xfrm>
        </p:spPr>
        <p:txBody>
          <a:bodyPr>
            <a:normAutofit/>
          </a:bodyPr>
          <a:lstStyle/>
          <a:p>
            <a:r>
              <a:rPr sz="4000" b="1" dirty="0">
                <a:latin typeface="Times New Roman" panose="02020603050405020304" pitchFamily="18" charset="0"/>
                <a:cs typeface="Times New Roman" panose="02020603050405020304" pitchFamily="18" charset="0"/>
              </a:rPr>
              <a:t>References</a:t>
            </a:r>
          </a:p>
        </p:txBody>
      </p:sp>
      <p:sp>
        <p:nvSpPr>
          <p:cNvPr id="4" name="Content Placeholder 3">
            <a:extLst>
              <a:ext uri="{FF2B5EF4-FFF2-40B4-BE49-F238E27FC236}">
                <a16:creationId xmlns:a16="http://schemas.microsoft.com/office/drawing/2014/main" id="{3D8D47D4-CBBB-0DAE-3EB6-7AB697AEE69F}"/>
              </a:ext>
            </a:extLst>
          </p:cNvPr>
          <p:cNvSpPr>
            <a:spLocks noGrp="1"/>
          </p:cNvSpPr>
          <p:nvPr>
            <p:ph idx="1"/>
          </p:nvPr>
        </p:nvSpPr>
        <p:spPr>
          <a:xfrm>
            <a:off x="1049482" y="1309257"/>
            <a:ext cx="10093036" cy="4525963"/>
          </a:xfrm>
        </p:spPr>
        <p:txBody>
          <a:bodyPr>
            <a:noAutofit/>
          </a:bodyPr>
          <a:lstStyle/>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Suresh, K., Kumar, S., </a:t>
            </a:r>
            <a:r>
              <a:rPr lang="en-IN" sz="2000" dirty="0" err="1">
                <a:latin typeface="Times New Roman" panose="02020603050405020304" pitchFamily="18" charset="0"/>
                <a:cs typeface="Times New Roman" panose="02020603050405020304" pitchFamily="18" charset="0"/>
              </a:rPr>
              <a:t>Siddik</a:t>
            </a:r>
            <a:r>
              <a:rPr lang="en-IN" sz="2000" dirty="0">
                <a:latin typeface="Times New Roman" panose="02020603050405020304" pitchFamily="18" charset="0"/>
                <a:cs typeface="Times New Roman" panose="02020603050405020304" pitchFamily="18" charset="0"/>
              </a:rPr>
              <a:t>, S., </a:t>
            </a:r>
            <a:r>
              <a:rPr lang="en-IN" sz="2000" dirty="0" err="1">
                <a:latin typeface="Times New Roman" panose="02020603050405020304" pitchFamily="18" charset="0"/>
                <a:cs typeface="Times New Roman" panose="02020603050405020304" pitchFamily="18" charset="0"/>
              </a:rPr>
              <a:t>Charaan</a:t>
            </a:r>
            <a:r>
              <a:rPr lang="en-IN" sz="2000" dirty="0">
                <a:latin typeface="Times New Roman" panose="02020603050405020304" pitchFamily="18" charset="0"/>
                <a:cs typeface="Times New Roman" panose="02020603050405020304" pitchFamily="18" charset="0"/>
              </a:rPr>
              <a:t>, R. D., Santhoshkumar, S. P., &amp; Sasikumar, M. (2025, August). AI-Enhanced Learning Assistant Platform with QA Generation, Evaluation, Learning Assessment to Discover Weaknesses and Improve Skills with Recursive Testing. In 2025 5th Asian Conference on Innovation in Technology (ASIANCON) (pp. 1-7). IEEE.</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Rajendra, G., Reddy, A. V., Kumar, Y. N. V. N., Reddy, S. S. P., &amp; Sai, K. J. (2026, April). AI-Powered Intelligent Programming Tutor: Adaptive Learning and Auto-Evaluation. In 2026 International Conference on Connected Intelligence for Industrial Applications (CI2A) (pp. 1-6). IEEE.</a:t>
            </a:r>
          </a:p>
          <a:p>
            <a:pPr marL="457200" indent="-457200">
              <a:buFont typeface="+mj-lt"/>
              <a:buAutoNum type="arabicPeriod"/>
            </a:pPr>
            <a:r>
              <a:rPr lang="en-IN" sz="2000" dirty="0" err="1">
                <a:latin typeface="Times New Roman" panose="02020603050405020304" pitchFamily="18" charset="0"/>
                <a:cs typeface="Times New Roman" panose="02020603050405020304" pitchFamily="18" charset="0"/>
              </a:rPr>
              <a:t>Redhu</a:t>
            </a:r>
            <a:r>
              <a:rPr lang="en-IN" sz="2000" dirty="0">
                <a:latin typeface="Times New Roman" panose="02020603050405020304" pitchFamily="18" charset="0"/>
                <a:cs typeface="Times New Roman" panose="02020603050405020304" pitchFamily="18" charset="0"/>
              </a:rPr>
              <a:t>, V., Singh, A. K., &amp; Saravanan, M. (2024, March). AI-Enhanced Learning Assistant Platform: An Advanced System for Q&amp;A Generation from Provided Content, Answer Evaluation, Identification of Students' Weak Areas, Recursive Testing for Strengthening Knowledge, Integrated Query Forum, and Expert Chat Support. In 2024 2nd International Conference on Artificial Intelligence and Machine Learning Applications Theme: Healthcare and Internet of Things (AIMLA) (pp. 1-6). IEEE.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1602B-8919-96E6-5B28-9DE785392734}"/>
              </a:ext>
            </a:extLst>
          </p:cNvPr>
          <p:cNvSpPr>
            <a:spLocks noGrp="1"/>
          </p:cNvSpPr>
          <p:nvPr>
            <p:ph type="title"/>
          </p:nvPr>
        </p:nvSpPr>
        <p:spPr>
          <a:xfrm>
            <a:off x="1981200" y="2613512"/>
            <a:ext cx="8229600" cy="1143000"/>
          </a:xfrm>
        </p:spPr>
        <p:txBody>
          <a:bodyPr/>
          <a:lstStyle/>
          <a:p>
            <a:r>
              <a:rPr lang="en-IN" dirty="0"/>
              <a:t>Thank you</a:t>
            </a:r>
          </a:p>
        </p:txBody>
      </p:sp>
      <p:sp>
        <p:nvSpPr>
          <p:cNvPr id="3" name="Slide Number Placeholder 2">
            <a:extLst>
              <a:ext uri="{FF2B5EF4-FFF2-40B4-BE49-F238E27FC236}">
                <a16:creationId xmlns:a16="http://schemas.microsoft.com/office/drawing/2014/main" id="{C0C60F82-A27F-D1DA-3D37-CC00529699D3}"/>
              </a:ext>
            </a:extLst>
          </p:cNvPr>
          <p:cNvSpPr>
            <a:spLocks noGrp="1"/>
          </p:cNvSpPr>
          <p:nvPr>
            <p:ph type="sldNum" sz="quarter" idx="12"/>
          </p:nvPr>
        </p:nvSpPr>
        <p:spPr/>
        <p:txBody>
          <a:bodyPr/>
          <a:lstStyle/>
          <a:p>
            <a:fld id="{C1FF6DA9-008F-8B48-92A6-B652298478BF}" type="slidenum">
              <a:rPr lang="en-US" smtClean="0"/>
              <a:t>22</a:t>
            </a:fld>
            <a:endParaRPr lang="en-US"/>
          </a:p>
        </p:txBody>
      </p:sp>
    </p:spTree>
    <p:extLst>
      <p:ext uri="{BB962C8B-B14F-4D97-AF65-F5344CB8AC3E}">
        <p14:creationId xmlns:p14="http://schemas.microsoft.com/office/powerpoint/2010/main" val="1125211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1103</TotalTime>
  <Words>1509</Words>
  <Application>Microsoft Office PowerPoint</Application>
  <PresentationFormat>Widescreen</PresentationFormat>
  <Paragraphs>182</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Times New Roman</vt:lpstr>
      <vt:lpstr>Wingdings</vt:lpstr>
      <vt:lpstr>Office Theme</vt:lpstr>
      <vt:lpstr>An Automated Java System for Adaptive Quiz Generation and Student Weak-Area Identification</vt:lpstr>
      <vt:lpstr>Introduction </vt:lpstr>
      <vt:lpstr>Problem Statement</vt:lpstr>
      <vt:lpstr>Methodology</vt:lpstr>
      <vt:lpstr>Scope and Objective of the Project</vt:lpstr>
      <vt:lpstr>Literature Review</vt:lpstr>
      <vt:lpstr>Tools Technologies</vt:lpstr>
      <vt:lpstr>Module 1- Question Bank &amp; Data Management</vt:lpstr>
      <vt:lpstr>Module 1- Question Bank &amp; Data Management</vt:lpstr>
      <vt:lpstr>Module 2- Quiz Delivery &amp; Response Capture</vt:lpstr>
      <vt:lpstr>Module 2- Implementation</vt:lpstr>
      <vt:lpstr>Module 3- Performance Scoring &amp; Weak-Area Detection</vt:lpstr>
      <vt:lpstr>Module 3- Performance Scoring &amp; Weak-Area Detection</vt:lpstr>
      <vt:lpstr>Module 4- Adaptive Quiz Generation Engine</vt:lpstr>
      <vt:lpstr>Module 4- Adaptive Quiz Generation Engine</vt:lpstr>
      <vt:lpstr>Module 5- Results Dashboard &amp; Progress Reporting</vt:lpstr>
      <vt:lpstr>Module 5- Results Dashboard &amp; Progress Reporting</vt:lpstr>
      <vt:lpstr>PowerPoint Presentation</vt:lpstr>
      <vt:lpstr>Future Scope</vt:lpstr>
      <vt:lpstr>Conclusion</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Anish Ebenezer</dc:creator>
  <cp:keywords/>
  <dc:description>generated using python-pptx</dc:description>
  <cp:lastModifiedBy>pushbasker@outlook.com</cp:lastModifiedBy>
  <cp:revision>35</cp:revision>
  <dcterms:created xsi:type="dcterms:W3CDTF">2013-01-27T09:14:16Z</dcterms:created>
  <dcterms:modified xsi:type="dcterms:W3CDTF">2026-09-05T05:03:47Z</dcterms:modified>
  <cp:category/>
</cp:coreProperties>
</file>